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5432f7d36994730" /><Relationship Type="http://schemas.openxmlformats.org/officeDocument/2006/relationships/extended-properties" Target="/docProps/app.xml" Id="Rbda7d42063e441db" /><Relationship Type="http://schemas.openxmlformats.org/officeDocument/2006/relationships/officeDocument" Target="/ppt/presentation.xml" Id="Ra23e47bb94174c02" /></Relationships>
</file>

<file path=ppt/presentation.xml><?xml version="1.0" encoding="utf-8"?>
<p:presentation xmlns:p="http://schemas.openxmlformats.org/presentationml/2006/main">
  <p:sldMasterIdLst>
    <p:sldMasterId xmlns:r="http://schemas.openxmlformats.org/officeDocument/2006/relationships" id="2147483648" r:id="R318ff1d5b5004978"/>
  </p:sldMasterIdLst>
  <p:notesMasterIdLst>
    <p:notesMasterId xmlns:r="http://schemas.openxmlformats.org/officeDocument/2006/relationships" r:id="R8b4d6658ff3d4856"/>
  </p:notesMasterIdLst>
  <p:sldIdLst>
    <p:sldId xmlns:r="http://schemas.openxmlformats.org/officeDocument/2006/relationships" id="256" r:id="R8b586612c0fd4b6a"/>
    <p:sldId xmlns:r="http://schemas.openxmlformats.org/officeDocument/2006/relationships" id="257" r:id="R819244d3de764162"/>
    <p:sldId xmlns:r="http://schemas.openxmlformats.org/officeDocument/2006/relationships" id="258" r:id="Re58961b3786a439f"/>
    <p:sldId xmlns:r="http://schemas.openxmlformats.org/officeDocument/2006/relationships" id="259" r:id="R88814cd279554241"/>
    <p:sldId xmlns:r="http://schemas.openxmlformats.org/officeDocument/2006/relationships" id="260" r:id="Rf8589cf73e1443b4"/>
    <p:sldId xmlns:r="http://schemas.openxmlformats.org/officeDocument/2006/relationships" id="261" r:id="R6cd88716d76844ab"/>
    <p:sldId xmlns:r="http://schemas.openxmlformats.org/officeDocument/2006/relationships" id="262" r:id="Re3c8cf151231403c"/>
    <p:sldId xmlns:r="http://schemas.openxmlformats.org/officeDocument/2006/relationships" id="263" r:id="R0f299ecbbebb4975"/>
    <p:sldId xmlns:r="http://schemas.openxmlformats.org/officeDocument/2006/relationships" id="264" r:id="Re1be8f4063a34144"/>
    <p:sldId xmlns:r="http://schemas.openxmlformats.org/officeDocument/2006/relationships" id="265" r:id="R75214f23fe744d45"/>
    <p:sldId xmlns:r="http://schemas.openxmlformats.org/officeDocument/2006/relationships" id="266" r:id="Rce47f367fa104e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24460cabcd414f" /><Relationship Type="http://schemas.openxmlformats.org/officeDocument/2006/relationships/slideMaster" Target="/ppt/slideMasters/slideMaster1.xml" Id="R318ff1d5b5004978" /><Relationship Type="http://schemas.openxmlformats.org/officeDocument/2006/relationships/notesMaster" Target="/ppt/notesMasters/notesMaster1.xml" Id="R8b4d6658ff3d4856" /><Relationship Type="http://schemas.openxmlformats.org/officeDocument/2006/relationships/presProps" Target="/ppt/presProps.xml" Id="R2dd95a829bdc45d9" /><Relationship Type="http://schemas.openxmlformats.org/officeDocument/2006/relationships/tableStyles" Target="/ppt/tableStyles.xml" Id="R88edb7259cf547cf" /><Relationship Type="http://schemas.openxmlformats.org/officeDocument/2006/relationships/slide" Target="/ppt/slides/slide1.xml" Id="R8b586612c0fd4b6a" /><Relationship Type="http://schemas.openxmlformats.org/officeDocument/2006/relationships/slide" Target="/ppt/slides/slide2.xml" Id="R819244d3de764162" /><Relationship Type="http://schemas.openxmlformats.org/officeDocument/2006/relationships/slide" Target="/ppt/slides/slide3.xml" Id="Re58961b3786a439f" /><Relationship Type="http://schemas.openxmlformats.org/officeDocument/2006/relationships/slide" Target="/ppt/slides/slide4.xml" Id="R88814cd279554241" /><Relationship Type="http://schemas.openxmlformats.org/officeDocument/2006/relationships/slide" Target="/ppt/slides/slide5.xml" Id="Rf8589cf73e1443b4" /><Relationship Type="http://schemas.openxmlformats.org/officeDocument/2006/relationships/slide" Target="/ppt/slides/slide6.xml" Id="R6cd88716d76844ab" /><Relationship Type="http://schemas.openxmlformats.org/officeDocument/2006/relationships/slide" Target="/ppt/slides/slide7.xml" Id="Re3c8cf151231403c" /><Relationship Type="http://schemas.openxmlformats.org/officeDocument/2006/relationships/slide" Target="/ppt/slides/slide8.xml" Id="R0f299ecbbebb4975" /><Relationship Type="http://schemas.openxmlformats.org/officeDocument/2006/relationships/slide" Target="/ppt/slides/slide9.xml" Id="Re1be8f4063a34144" /><Relationship Type="http://schemas.openxmlformats.org/officeDocument/2006/relationships/slide" Target="/ppt/slides/slide10.xml" Id="R75214f23fe744d45" /><Relationship Type="http://schemas.openxmlformats.org/officeDocument/2006/relationships/slide" Target="/ppt/slides/slide11.xml" Id="Rce47f367fa104e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cb31ddbac743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1a48f2dbcf4002" /><Relationship Type="http://schemas.openxmlformats.org/officeDocument/2006/relationships/notesMaster" Target="/ppt/notesMasters/notesMaster1.xml" Id="R4461ea8c27d64c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88e436729c40b0" /><Relationship Type="http://schemas.openxmlformats.org/officeDocument/2006/relationships/notesMaster" Target="/ppt/notesMasters/notesMaster1.xml" Id="Rffe95ad40e054e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7f708a77c74473" /><Relationship Type="http://schemas.openxmlformats.org/officeDocument/2006/relationships/notesMaster" Target="/ppt/notesMasters/notesMaster1.xml" Id="R1982514d025944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3d39d8f05345e6" /><Relationship Type="http://schemas.openxmlformats.org/officeDocument/2006/relationships/notesMaster" Target="/ppt/notesMasters/notesMaster1.xml" Id="Rf234f45697f845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3a34e239c84e88" /><Relationship Type="http://schemas.openxmlformats.org/officeDocument/2006/relationships/notesMaster" Target="/ppt/notesMasters/notesMaster1.xml" Id="Ra2240e06187045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4b6fa0eb8141ed" /><Relationship Type="http://schemas.openxmlformats.org/officeDocument/2006/relationships/notesMaster" Target="/ppt/notesMasters/notesMaster1.xml" Id="Rd9de746f4b1244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7cb85a1a1740be" /><Relationship Type="http://schemas.openxmlformats.org/officeDocument/2006/relationships/notesMaster" Target="/ppt/notesMasters/notesMaster1.xml" Id="R916f4172c02d4e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baeeafc3fa4ef4" /><Relationship Type="http://schemas.openxmlformats.org/officeDocument/2006/relationships/notesMaster" Target="/ppt/notesMasters/notesMaster1.xml" Id="Rffa9a6d410c743ea"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510ccd79794faa" /><Relationship Type="http://schemas.openxmlformats.org/officeDocument/2006/relationships/notesMaster" Target="/ppt/notesMasters/notesMaster1.xml" Id="R96d39e1093cc49c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e50cf3b7c547dc" /><Relationship Type="http://schemas.openxmlformats.org/officeDocument/2006/relationships/notesMaster" Target="/ppt/notesMasters/notesMaster1.xml" Id="Ra118e64e723344d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5563a1f1c1f4c11" /><Relationship Type="http://schemas.openxmlformats.org/officeDocument/2006/relationships/notesMaster" Target="/ppt/notesMasters/notesMaster1.xml" Id="R6d97f73e7b7e4b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give the collaboration a quick, plain-language view of the preliminary conditioning and residual scans. The deck deliberately stops short of recommending whether any matrix should be committed.</a:t>
            </a:r>
          </a:p>
          <a:p xmlns:a="http://schemas.openxmlformats.org/drawingml/2006/main">
            <a:r>
              <a:t/>
            </a:r>
          </a:p>
          <a:p xmlns:a="http://schemas.openxmlformats.org/drawingml/2006/main">
            <a:r>
              <a:t>[Sources]</a:t>
            </a:r>
          </a:p>
          <a:p xmlns:a="http://schemas.openxmlformats.org/drawingml/2006/main">
            <a:r>
              <a:t>- /Users/christine/.codex/.chatgpt-projects/g-p-680be63e67b48191a251ae0adfb21ae2/work/hallc_spectrometer_angular_optics/HMS_6p667GeV/08_preliminary_conditioning/COLLABORATION_SUMMARY.md</a:t>
            </a:r>
          </a:p>
          <a:p xmlns:a="http://schemas.openxmlformats.org/drawingml/2006/main">
            <a:r>
              <a:t>- /Users/christine/.codex/.chatgpt-projects/g-p-680be63e67b48191a251ae0adfb21ae2/work/hallc_spectrometer_angular_optics/HMS_6p667GeV/08_preliminary_conditioning/PRELIMINARY_FINDINGS.md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How to read this slide: the condition number is a warning light for numerical sensitivity. XᵀX squares the spread already present in X, so the current route becomes much harder to solve accurately. Rescaling the columns and solving X directly changes the numerical representation, not the underlying fit model.</a:t>
            </a:r>
          </a:p>
          <a:p xmlns:a="http://schemas.openxmlformats.org/drawingml/2006/main">
            <a:r>
              <a:t/>
            </a:r>
          </a:p>
          <a:p xmlns:a="http://schemas.openxmlformats.org/drawingml/2006/main">
            <a:r>
              <a:t>[Sources]</a:t>
            </a:r>
          </a:p>
          <a:p xmlns:a="http://schemas.openxmlformats.org/drawingml/2006/main">
            <a:r>
              <a:t>- /Users/christine/.codex/.chatgpt-projects/g-p-680be63e67b48191a251ae0adfb21ae2/work/hallc_spectrometer_angular_optics/HMS_6p667GeV/08_preliminary_conditioning/solver_comparison/condition_by_solve_method_vs_N.png</a:t>
            </a:r>
          </a:p>
          <a:p xmlns:a="http://schemas.openxmlformats.org/drawingml/2006/main">
            <a:r>
              <a:t>- /Users/christine/.codex/.chatgpt-projects/g-p-680be63e67b48191a251ae0adfb21ae2/work/hallc_spectrometer_angular_optics/HMS_6p667GeV/08_preliminary_conditioning/solver_comparison/angular_solver_comparison.tsv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Plain-language interpretation: at N=54, the current normal-equation solve can no longer distinguish every independent combination of coefficients at ROOT's numerical cutoff. From then on at least one combination is dropped. Later terms can still add useful independent information, but the count of independently determined combinations stops growing at 111 by N=176.</a:t>
            </a:r>
          </a:p>
          <a:p xmlns:a="http://schemas.openxmlformats.org/drawingml/2006/main">
            <a:r>
              <a:t/>
            </a:r>
          </a:p>
          <a:p xmlns:a="http://schemas.openxmlformats.org/drawingml/2006/main">
            <a:r>
              <a:t>[Sources]</a:t>
            </a:r>
          </a:p>
          <a:p xmlns:a="http://schemas.openxmlformats.org/drawingml/2006/main">
            <a:r>
              <a:t>- /Users/christine/.codex/.chatgpt-projects/g-p-680be63e67b48191a251ae0adfb21ae2/work/hallc_spectrometer_angular_optics/HMS_6p667GeV/08_preliminary_conditioning/solver_comparison/discarded_directions_by_solve_method_vs_N.png</a:t>
            </a:r>
          </a:p>
          <a:p xmlns:a="http://schemas.openxmlformats.org/drawingml/2006/main">
            <a:r>
              <a:t>- /Users/christine/.codex/.chatgpt-projects/g-p-680be63e67b48191a251ae0adfb21ae2/work/hallc_spectrometer_angular_optics/HMS_6p667GeV/08_preliminary_conditioning/term_ladder/angular_term_ladder.tsv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plotted quantity subtracts ROOT's solve-specific truncation threshold from the smallest numerical direction at each N. That is why one zero line is meaningful across the ladder even though the absolute cutoff changes with the solve.</a:t>
            </a:r>
          </a:p>
          <a:p xmlns:a="http://schemas.openxmlformats.org/drawingml/2006/main">
            <a:r>
              <a:t/>
            </a:r>
          </a:p>
          <a:p xmlns:a="http://schemas.openxmlformats.org/drawingml/2006/main">
            <a:r>
              <a:t>[Sources]</a:t>
            </a:r>
          </a:p>
          <a:p xmlns:a="http://schemas.openxmlformats.org/drawingml/2006/main">
            <a:r>
              <a:t>- /Users/christine/.codex/.chatgpt-projects/g-p-680be63e67b48191a251ae0adfb21ae2/work/hallc_spectrometer_angular_optics/HMS_6p667GeV/08_preliminary_conditioning/term_ladder/truncation_margin_lowN.png</a:t>
            </a:r>
          </a:p>
          <a:p xmlns:a="http://schemas.openxmlformats.org/drawingml/2006/main">
            <a:r>
              <a:t>- /Users/christine/.codex/.chatgpt-projects/g-p-680be63e67b48191a251ae0adfb21ae2/work/hallc_spectrometer_angular_optics/HMS_6p667GeV/08_preliminary_conditioning/term_ladder/angular_term_ladder_summary.txt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Blue curves are events used in the fit; red curves are eligible events not selected for the fit. A falling training curve by itself cannot establish stability. The held-out curve is the more direct check for whether the added terms generalize to unused events.</a:t>
            </a:r>
          </a:p>
          <a:p xmlns:a="http://schemas.openxmlformats.org/drawingml/2006/main">
            <a:r>
              <a:t/>
            </a:r>
          </a:p>
          <a:p xmlns:a="http://schemas.openxmlformats.org/drawingml/2006/main">
            <a:r>
              <a:t>[Sources]</a:t>
            </a:r>
          </a:p>
          <a:p xmlns:a="http://schemas.openxmlformats.org/drawingml/2006/main">
            <a:r>
              <a:t>- /Users/christine/.codex/.chatgpt-projects/g-p-680be63e67b48191a251ae0adfb21ae2/work/hallc_spectrometer_angular_optics/HMS_6p667GeV/08_preliminary_conditioning/solver_comparison/training_vs_heldout_residuals_by_N.png</a:t>
            </a:r>
          </a:p>
          <a:p xmlns:a="http://schemas.openxmlformats.org/drawingml/2006/main">
            <a:r>
              <a:t>- /Users/christine/.codex/.chatgpt-projects/g-p-680be63e67b48191a251ae0adfb21ae2/work/hallc_spectrometer_angular_optics/HMS_6p667GeV/08_preliminary_conditioning/per_foil_residual_ladder/angular_per_foil_residual_ladder.tsv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Overview only: these four foil-averaged x-prime held-out curves do not satisfy the descriptive marker of five consecutive N values more than 5% above their N&gt;=35 minimum by N=210. This marker is a summary aid, not a fit cutoff. Each foil average combines several settings, so a setting-level effect can be hidden.</a:t>
            </a:r>
          </a:p>
          <a:p xmlns:a="http://schemas.openxmlformats.org/drawingml/2006/main">
            <a:r>
              <a:t/>
            </a:r>
          </a:p>
          <a:p xmlns:a="http://schemas.openxmlformats.org/drawingml/2006/main">
            <a:r>
              <a:t>[Sources]</a:t>
            </a:r>
          </a:p>
          <a:p xmlns:a="http://schemas.openxmlformats.org/drawingml/2006/main">
            <a:r>
              <a:t>- /Users/christine/.codex/.chatgpt-projects/g-p-680be63e67b48191a251ae0adfb21ae2/work/hallc_spectrometer_angular_optics/HMS_6p667GeV/08_preliminary_conditioning/per_foil_residual_ladder/rescaled_direct_X/foil_m8cm/xptar_residual_ladder.png</a:t>
            </a:r>
          </a:p>
          <a:p xmlns:a="http://schemas.openxmlformats.org/drawingml/2006/main">
            <a:r>
              <a:t>- /Users/christine/.codex/.chatgpt-projects/g-p-680be63e67b48191a251ae0adfb21ae2/work/hallc_spectrometer_angular_optics/HMS_6p667GeV/08_preliminary_conditioning/per_foil_residual_ladder/rescaled_direct_X/foil_m3cm/xptar_residual_ladder.png</a:t>
            </a:r>
          </a:p>
          <a:p xmlns:a="http://schemas.openxmlformats.org/drawingml/2006/main">
            <a:r>
              <a:t>- /Users/christine/.codex/.chatgpt-projects/g-p-680be63e67b48191a251ae0adfb21ae2/work/hallc_spectrometer_angular_optics/HMS_6p667GeV/08_preliminary_conditioning/per_foil_residual_ladder/rescaled_direct_X/foil_0cm/xptar_residual_ladder.png</a:t>
            </a:r>
          </a:p>
          <a:p xmlns:a="http://schemas.openxmlformats.org/drawingml/2006/main">
            <a:r>
              <a:t>- /Users/christine/.codex/.chatgpt-projects/g-p-680be63e67b48191a251ae0adfb21ae2/work/hallc_spectrometer_angular_optics/HMS_6p667GeV/08_preliminary_conditioning/per_foil_residual_ladder/rescaled_direct_X/foil_p3cm/xptar_residual_ladder.png</a:t>
            </a:r>
          </a:p>
          <a:p xmlns:a="http://schemas.openxmlformats.org/drawingml/2006/main">
            <a:r>
              <a:t>- /Users/christine/.codex/.chatgpt-projects/g-p-680be63e67b48191a251ae0adfb21ae2/work/hallc_spectrometer_angular_optics/HMS_6p667GeV/08_preliminary_conditioning/per_foil_residual_ladder/angular_per_foil_overfitting_onsets.tsv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+8 cm foil average is the clearest early x-prime held-out rise in the scaled direct-X ladder. The current XTX curve follows a different high-N path because the pseudoinverse is truncating numerical directions. The marker is descriptive and should not be read as a recommended cutoff.</a:t>
            </a:r>
          </a:p>
          <a:p xmlns:a="http://schemas.openxmlformats.org/drawingml/2006/main">
            <a:r>
              <a:t/>
            </a:r>
          </a:p>
          <a:p xmlns:a="http://schemas.openxmlformats.org/drawingml/2006/main">
            <a:r>
              <a:t>[Sources]</a:t>
            </a:r>
          </a:p>
          <a:p xmlns:a="http://schemas.openxmlformats.org/drawingml/2006/main">
            <a:r>
              <a:t>- /Users/christine/.codex/.chatgpt-projects/g-p-680be63e67b48191a251ae0adfb21ae2/work/hallc_spectrometer_angular_optics/HMS_6p667GeV/08_preliminary_conditioning/per_foil_residual_ladder/rescaled_direct_X/foil_p8cm/xptar_residual_ladder.png</a:t>
            </a:r>
          </a:p>
          <a:p xmlns:a="http://schemas.openxmlformats.org/drawingml/2006/main">
            <a:r>
              <a:t>- /Users/christine/.codex/.chatgpt-projects/g-p-680be63e67b48191a251ae0adfb21ae2/work/hallc_spectrometer_angular_optics/HMS_6p667GeV/08_preliminary_conditioning/per_foil_residual_ladder/current_XTX/foil_p8cm/xptar_residual_ladder.png</a:t>
            </a:r>
          </a:p>
          <a:p xmlns:a="http://schemas.openxmlformats.org/drawingml/2006/main">
            <a:r>
              <a:t>- /Users/christine/.codex/.chatgpt-projects/g-p-680be63e67b48191a251ae0adfb21ae2/work/hallc_spectrometer_angular_optics/HMS_6p667GeV/08_preliminary_conditioning/per_foil_residual_ladder/angular_per_foil_overfitting_onsets.tsv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reconstructed target y coordinate at +8 cm, the sustained held-out rise is late and similar in onset for the two solve routes. The detailed curve shapes differ, so this is evidence of a shared late-N issue, not proof that the matrices are otherwise equivalent.</a:t>
            </a:r>
          </a:p>
          <a:p xmlns:a="http://schemas.openxmlformats.org/drawingml/2006/main">
            <a:r>
              <a:t/>
            </a:r>
          </a:p>
          <a:p xmlns:a="http://schemas.openxmlformats.org/drawingml/2006/main">
            <a:r>
              <a:t>[Sources]</a:t>
            </a:r>
          </a:p>
          <a:p xmlns:a="http://schemas.openxmlformats.org/drawingml/2006/main">
            <a:r>
              <a:t>- /Users/christine/.codex/.chatgpt-projects/g-p-680be63e67b48191a251ae0adfb21ae2/work/hallc_spectrometer_angular_optics/HMS_6p667GeV/08_preliminary_conditioning/per_foil_residual_ladder/rescaled_direct_X/foil_p8cm/ytar_residual_ladder.png</a:t>
            </a:r>
          </a:p>
          <a:p xmlns:a="http://schemas.openxmlformats.org/drawingml/2006/main">
            <a:r>
              <a:t>- /Users/christine/.codex/.chatgpt-projects/g-p-680be63e67b48191a251ae0adfb21ae2/work/hallc_spectrometer_angular_optics/HMS_6p667GeV/08_preliminary_conditioning/per_foil_residual_ladder/current_XTX/foil_p8cm/ytar_residual_ladder.png</a:t>
            </a:r>
          </a:p>
          <a:p xmlns:a="http://schemas.openxmlformats.org/drawingml/2006/main">
            <a:r>
              <a:t>- /Users/christine/.codex/.chatgpt-projects/g-p-680be63e67b48191a251ae0adfb21ae2/work/hallc_spectrometer_angular_optics/HMS_6p667GeV/08_preliminary_conditioning/per_foil_residual_ladder/angular_per_foil_overfitting_onsets.tsv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target y-prime at +8 cm, both held-out curves eventually rise, but the sustained rise begins earlier in the scaled direct-X solve. This comparison shows that the apparent stability range depends on the numerical solve, not only on the list of fitted terms.</a:t>
            </a:r>
          </a:p>
          <a:p xmlns:a="http://schemas.openxmlformats.org/drawingml/2006/main">
            <a:r>
              <a:t/>
            </a:r>
          </a:p>
          <a:p xmlns:a="http://schemas.openxmlformats.org/drawingml/2006/main">
            <a:r>
              <a:t>[Sources]</a:t>
            </a:r>
          </a:p>
          <a:p xmlns:a="http://schemas.openxmlformats.org/drawingml/2006/main">
            <a:r>
              <a:t>- /Users/christine/.codex/.chatgpt-projects/g-p-680be63e67b48191a251ae0adfb21ae2/work/hallc_spectrometer_angular_optics/HMS_6p667GeV/08_preliminary_conditioning/per_foil_residual_ladder/rescaled_direct_X/foil_p8cm/yptar_residual_ladder.png</a:t>
            </a:r>
          </a:p>
          <a:p xmlns:a="http://schemas.openxmlformats.org/drawingml/2006/main">
            <a:r>
              <a:t>- /Users/christine/.codex/.chatgpt-projects/g-p-680be63e67b48191a251ae0adfb21ae2/work/hallc_spectrometer_angular_optics/HMS_6p667GeV/08_preliminary_conditioning/per_foil_residual_ladder/current_XTX/foil_p8cm/yptar_residual_ladder.png</a:t>
            </a:r>
          </a:p>
          <a:p xmlns:a="http://schemas.openxmlformats.org/drawingml/2006/main">
            <a:r>
              <a:t>- /Users/christine/.codex/.chatgpt-projects/g-p-680be63e67b48191a251ae0adfb21ae2/work/hallc_spectrometer_angular_optics/HMS_6p667GeV/08_preliminary_conditioning/per_foil_residual_ladder/angular_per_foil_overfitting_onsets.tsv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plot separates two questions: numerical conditioning and predictive behavior. A solve can be much better conditioned while still fitting high-order structure that does not transfer well to held-out events. The candidate comparison is included to expose that tradeoff, not to nominate a matrix.</a:t>
            </a:r>
          </a:p>
          <a:p xmlns:a="http://schemas.openxmlformats.org/drawingml/2006/main">
            <a:r>
              <a:t/>
            </a:r>
          </a:p>
          <a:p xmlns:a="http://schemas.openxmlformats.org/drawingml/2006/main">
            <a:r>
              <a:t>[Sources]</a:t>
            </a:r>
          </a:p>
          <a:p xmlns:a="http://schemas.openxmlformats.org/drawingml/2006/main">
            <a:r>
              <a:t>- /Users/christine/.codex/.chatgpt-projects/g-p-680be63e67b48191a251ae0adfb21ae2/work/hallc_spectrometer_angular_optics/HMS_6p667GeV/08_preliminary_conditioning/solver_comparison/candidate_residuals_heldout.png</a:t>
            </a:r>
          </a:p>
          <a:p xmlns:a="http://schemas.openxmlformats.org/drawingml/2006/main">
            <a:r>
              <a:t>- /Users/christine/.codex/.chatgpt-projects/g-p-680be63e67b48191a251ae0adfb21ae2/work/hallc_spectrometer_angular_optics/HMS_6p667GeV/08_preliminary_conditioning/solver_comparison/angular_candidate_N_comparison.tsv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Bottom line for this preliminary scan: the current XTX solve begins truncating at N=54 and retains 111 independent directions at N=210; scaled direct X is much better conditioned; and high-N held-out behavior is not uniform across the data, with the +8 cm subset dominating the clearest rise. These are stability observations only. They do not establish which matrix should be committed.</a:t>
            </a:r>
          </a:p>
          <a:p xmlns:a="http://schemas.openxmlformats.org/drawingml/2006/main">
            <a:r>
              <a:t/>
            </a:r>
          </a:p>
          <a:p xmlns:a="http://schemas.openxmlformats.org/drawingml/2006/main">
            <a:r>
              <a:t>[Sources]</a:t>
            </a:r>
          </a:p>
          <a:p xmlns:a="http://schemas.openxmlformats.org/drawingml/2006/main">
            <a:r>
              <a:t>- /Users/christine/.codex/.chatgpt-projects/g-p-680be63e67b48191a251ae0adfb21ae2/work/hallc_spectrometer_angular_optics/HMS_6p667GeV/08_preliminary_conditioning/solver_comparison/prediction_difference_from_rescaled_direct_X_heldout.png</a:t>
            </a:r>
          </a:p>
          <a:p xmlns:a="http://schemas.openxmlformats.org/drawingml/2006/main">
            <a:r>
              <a:t>- /Users/christine/.codex/.chatgpt-projects/g-p-680be63e67b48191a251ae0adfb21ae2/work/hallc_spectrometer_angular_optics/HMS_6p667GeV/08_preliminary_conditioning/solver_comparison/angular_solver_comparison_heldout.tsv</a:t>
            </a:r>
          </a:p>
          <a:p xmlns:a="http://schemas.openxmlformats.org/drawingml/2006/main">
            <a:r>
              <a:t>- /Users/christine/.codex/.chatgpt-projects/g-p-680be63e67b48191a251ae0adfb21ae2/work/hallc_spectrometer_angular_optics/HMS_6p667GeV/08_preliminary_conditioning/per_foil_residual_ladder/angular_per_foil_residual_ladder_summary.txt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870ed9b25946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096e671c474161" /><Relationship Type="http://schemas.openxmlformats.org/officeDocument/2006/relationships/slideLayout" Target="/ppt/slideLayouts/slideLayout1.xml" Id="Rdbd33c58ebcb45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d33c58ebcb45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f19ec4761a47d7" /><Relationship Type="http://schemas.openxmlformats.org/officeDocument/2006/relationships/notesSlide" Target="/ppt/notesSlides/notesSlide1.xml" Id="R802c030e28a041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e05ad7da39b41f7" /><Relationship Type="http://schemas.openxmlformats.org/officeDocument/2006/relationships/image" Target="/ppt/media/image.png" Id="R72ba1166fec54c93" /><Relationship Type="http://schemas.openxmlformats.org/officeDocument/2006/relationships/notesSlide" Target="/ppt/notesSlides/notesSlide2.xml" Id="R36b6fb82b8dd49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e844af80ecd4348" /><Relationship Type="http://schemas.openxmlformats.org/officeDocument/2006/relationships/image" Target="/ppt/media/image2.png" Id="R358bfccb33b64209" /><Relationship Type="http://schemas.openxmlformats.org/officeDocument/2006/relationships/notesSlide" Target="/ppt/notesSlides/notesSlide3.xml" Id="Rbdb05a32db6447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b240db9d4df409d" /><Relationship Type="http://schemas.openxmlformats.org/officeDocument/2006/relationships/image" Target="/ppt/media/image3.png" Id="Rcf9ad42122714335" /><Relationship Type="http://schemas.openxmlformats.org/officeDocument/2006/relationships/notesSlide" Target="/ppt/notesSlides/notesSlide4.xml" Id="Rca77498dfd1641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0c0c359e5549c1" /><Relationship Type="http://schemas.openxmlformats.org/officeDocument/2006/relationships/image" Target="/ppt/media/image4.png" Id="R9cd5974f629f4657" /><Relationship Type="http://schemas.openxmlformats.org/officeDocument/2006/relationships/notesSlide" Target="/ppt/notesSlides/notesSlide5.xml" Id="R9ba9db9655a544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7d029f62ec4032" /><Relationship Type="http://schemas.openxmlformats.org/officeDocument/2006/relationships/image" Target="/ppt/media/image5.png" Id="R8b9200b889154fb1" /><Relationship Type="http://schemas.openxmlformats.org/officeDocument/2006/relationships/image" Target="/ppt/media/image6.png" Id="R343369dcd69f4047" /><Relationship Type="http://schemas.openxmlformats.org/officeDocument/2006/relationships/image" Target="/ppt/media/image7.png" Id="Ra46d810236924446" /><Relationship Type="http://schemas.openxmlformats.org/officeDocument/2006/relationships/image" Target="/ppt/media/image8.png" Id="Rccfc1398a9a842d1" /><Relationship Type="http://schemas.openxmlformats.org/officeDocument/2006/relationships/notesSlide" Target="/ppt/notesSlides/notesSlide6.xml" Id="Rbbf03e51e6244f6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34c2df980004510" /><Relationship Type="http://schemas.openxmlformats.org/officeDocument/2006/relationships/image" Target="/ppt/media/image9.png" Id="R3ccc6d73470e4275" /><Relationship Type="http://schemas.openxmlformats.org/officeDocument/2006/relationships/image" Target="/ppt/media/image10.png" Id="R5eed479bfbc144a1" /><Relationship Type="http://schemas.openxmlformats.org/officeDocument/2006/relationships/notesSlide" Target="/ppt/notesSlides/notesSlide7.xml" Id="R7ca90dc1be414a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bd4c2ecc9b74fc4" /><Relationship Type="http://schemas.openxmlformats.org/officeDocument/2006/relationships/image" Target="/ppt/media/image11.png" Id="Rc748b178c524414e" /><Relationship Type="http://schemas.openxmlformats.org/officeDocument/2006/relationships/image" Target="/ppt/media/image12.png" Id="R90d5781d8afe474b" /><Relationship Type="http://schemas.openxmlformats.org/officeDocument/2006/relationships/notesSlide" Target="/ppt/notesSlides/notesSlide8.xml" Id="R8d3eea43975e4e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cb78158a3a441fd" /><Relationship Type="http://schemas.openxmlformats.org/officeDocument/2006/relationships/image" Target="/ppt/media/image13.png" Id="R427e95bb24a6432e" /><Relationship Type="http://schemas.openxmlformats.org/officeDocument/2006/relationships/image" Target="/ppt/media/image14.png" Id="Rab0ca7ed8227490e" /><Relationship Type="http://schemas.openxmlformats.org/officeDocument/2006/relationships/notesSlide" Target="/ppt/notesSlides/notesSlide9.xml" Id="R1a018512fc984c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db243a17d30410b" /><Relationship Type="http://schemas.openxmlformats.org/officeDocument/2006/relationships/image" Target="/ppt/media/image15.png" Id="R551dcefd39a848e4" /><Relationship Type="http://schemas.openxmlformats.org/officeDocument/2006/relationships/notesSlide" Target="/ppt/notesSlides/notesSlide10.xml" Id="Rb5b26066f8cf48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ef3468a23a44975" /><Relationship Type="http://schemas.openxmlformats.org/officeDocument/2006/relationships/image" Target="/ppt/media/image16.png" Id="Re0a3a7dac09341da" /><Relationship Type="http://schemas.openxmlformats.org/officeDocument/2006/relationships/notesSlide" Target="/ppt/notesSlides/notesSlide11.xml" Id="Rdf4515744f1e430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9A04B9D-8EC6-42A3-8D6F-080D4EE9D671}"/>
              </a:ext>
            </a:extLst>
          </p:cNvPr>
          <p:cNvSpPr>
            <a:spLocks xmlns:a="http://schemas.openxmlformats.org/drawingml/2006/main" noGrp="1"/>
          </p:cNvSpPr>
          <p:nvPr/>
        </p:nvSpPr>
        <p:spPr>
          <a:xfrm xmlns:a="http://schemas.openxmlformats.org/drawingml/2006/main">
            <a:off x="400050" y="400050"/>
            <a:ext cx="571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5F6368"/>
                </a:solidFill>
                <a:latin typeface="Helvetica Neue"/>
                <a:ea typeface="Helvetica Neue"/>
                <a:cs typeface="Helvetica Neue"/>
              </a:defRPr>
            </a:pPr>
            <a:r>
              <a:rPr sz="1350" b="1">
                <a:solidFill>
                  <a:srgbClr val="5F6368"/>
                </a:solidFill>
                <a:latin typeface="Helvetica Neue"/>
                <a:ea typeface="Helvetica Neue"/>
                <a:cs typeface="Helvetica Neue"/>
              </a:rPr>
              <a:t>HALL C OPTICS  •  PRELIMINARY</a:t>
            </a:r>
          </a:p>
        </p:txBody>
      </p:sp>
      <p:sp>
        <p:nvSpPr>
          <p:cNvPr id="2" name="">
            <a:extLst xmlns:a="http://schemas.openxmlformats.org/drawingml/2006/main">
              <a:ext uri="{FF2B5EF4-FFF2-40B4-BE49-F238E27FC236}">
                <a16:creationId xmlns:a16="http://schemas.microsoft.com/office/drawing/2014/main" id="{FA82AD74-4484-47C6-ABED-AA872BE53337}"/>
              </a:ext>
            </a:extLst>
          </p:cNvPr>
          <p:cNvSpPr>
            <a:spLocks xmlns:a="http://schemas.openxmlformats.org/drawingml/2006/main" noGrp="1"/>
          </p:cNvSpPr>
          <p:nvPr/>
        </p:nvSpPr>
        <p:spPr>
          <a:xfrm xmlns:a="http://schemas.openxmlformats.org/drawingml/2006/main">
            <a:off x="400050" y="1619250"/>
            <a:ext cx="9048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1">
                <a:solidFill>
                  <a:srgbClr val="111111"/>
                </a:solidFill>
                <a:latin typeface="Helvetica Neue"/>
                <a:ea typeface="Helvetica Neue"/>
                <a:cs typeface="Helvetica Neue"/>
              </a:defRPr>
            </a:pPr>
            <a:r>
              <a:rPr sz="4350" b="1">
                <a:solidFill>
                  <a:srgbClr val="111111"/>
                </a:solidFill>
                <a:latin typeface="Helvetica Neue"/>
                <a:ea typeface="Helvetica Neue"/>
                <a:cs typeface="Helvetica Neue"/>
              </a:rPr>
              <a:t>HMS angular optics:</a:t>
            </a:r>
          </a:p>
          <a:p xmlns:a="http://schemas.openxmlformats.org/drawingml/2006/main">
            <a:pPr algn="l">
              <a:defRPr sz="4350" b="1">
                <a:solidFill>
                  <a:srgbClr val="111111"/>
                </a:solidFill>
                <a:latin typeface="Helvetica Neue"/>
                <a:ea typeface="Helvetica Neue"/>
                <a:cs typeface="Helvetica Neue"/>
              </a:defRPr>
            </a:pPr>
            <a:r>
              <a:rPr sz="4350" b="1">
                <a:solidFill>
                  <a:srgbClr val="111111"/>
                </a:solidFill>
                <a:latin typeface="Helvetica Neue"/>
                <a:ea typeface="Helvetica Neue"/>
                <a:cs typeface="Helvetica Neue"/>
              </a:rPr>
              <a:t>conditioning and residual scan</a:t>
            </a:r>
          </a:p>
        </p:txBody>
      </p:sp>
      <p:sp>
        <p:nvSpPr>
          <p:cNvPr id="3" name="">
            <a:extLst xmlns:a="http://schemas.openxmlformats.org/drawingml/2006/main">
              <a:ext uri="{FF2B5EF4-FFF2-40B4-BE49-F238E27FC236}">
                <a16:creationId xmlns:a16="http://schemas.microsoft.com/office/drawing/2014/main" id="{F88E9EA9-41EC-48B5-A3D8-3241405A18F2}"/>
              </a:ext>
            </a:extLst>
          </p:cNvPr>
          <p:cNvSpPr>
            <a:spLocks xmlns:a="http://schemas.openxmlformats.org/drawingml/2006/main" noGrp="1"/>
          </p:cNvSpPr>
          <p:nvPr/>
        </p:nvSpPr>
        <p:spPr>
          <a:xfrm xmlns:a="http://schemas.openxmlformats.org/drawingml/2006/main">
            <a:off x="400050" y="4229100"/>
            <a:ext cx="1809750" cy="666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D23E381-BE4F-4E8F-BE09-DBB0BB1A7B40}"/>
              </a:ext>
            </a:extLst>
          </p:cNvPr>
          <p:cNvSpPr>
            <a:spLocks xmlns:a="http://schemas.openxmlformats.org/drawingml/2006/main" noGrp="1"/>
          </p:cNvSpPr>
          <p:nvPr/>
        </p:nvSpPr>
        <p:spPr>
          <a:xfrm xmlns:a="http://schemas.openxmlformats.org/drawingml/2006/main">
            <a:off x="400050" y="4572000"/>
            <a:ext cx="714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6.667 GeV sample  •  term ladder through N = 210</a:t>
            </a:r>
          </a:p>
        </p:txBody>
      </p:sp>
      <p:sp>
        <p:nvSpPr>
          <p:cNvPr id="5" name="">
            <a:extLst xmlns:a="http://schemas.openxmlformats.org/drawingml/2006/main">
              <a:ext uri="{FF2B5EF4-FFF2-40B4-BE49-F238E27FC236}">
                <a16:creationId xmlns:a16="http://schemas.microsoft.com/office/drawing/2014/main" id="{100EFDFC-1D75-4D88-8C37-DCFBDE0A51D1}"/>
              </a:ext>
            </a:extLst>
          </p:cNvPr>
          <p:cNvSpPr>
            <a:spLocks xmlns:a="http://schemas.openxmlformats.org/drawingml/2006/main" noGrp="1"/>
          </p:cNvSpPr>
          <p:nvPr/>
        </p:nvSpPr>
        <p:spPr>
          <a:xfrm xmlns:a="http://schemas.openxmlformats.org/drawingml/2006/main">
            <a:off x="400050" y="5257800"/>
            <a:ext cx="895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F6368"/>
                </a:solidFill>
                <a:latin typeface="Helvetica Neue"/>
                <a:ea typeface="Helvetica Neue"/>
                <a:cs typeface="Helvetica Neue"/>
              </a:defRPr>
            </a:pPr>
            <a:r>
              <a:rPr sz="1500" b="0">
                <a:solidFill>
                  <a:srgbClr val="5F6368"/>
                </a:solidFill>
                <a:latin typeface="Helvetica Neue"/>
                <a:ea typeface="Helvetica Neue"/>
                <a:cs typeface="Helvetica Neue"/>
              </a:rPr>
              <a:t>Reports numerical stability and residual behavior only; no matrix-selection recommendation.</a:t>
            </a:r>
          </a:p>
        </p:txBody>
      </p:sp>
      <p:sp>
        <p:nvSpPr>
          <p:cNvPr id="6" name="">
            <a:extLst xmlns:a="http://schemas.openxmlformats.org/drawingml/2006/main">
              <a:ext uri="{FF2B5EF4-FFF2-40B4-BE49-F238E27FC236}">
                <a16:creationId xmlns:a16="http://schemas.microsoft.com/office/drawing/2014/main" id="{65FAB1D3-1B89-4A0A-941B-9BA19F6D8653}"/>
              </a:ext>
            </a:extLst>
          </p:cNvPr>
          <p:cNvSpPr>
            <a:spLocks xmlns:a="http://schemas.openxmlformats.org/drawingml/2006/main" noGrp="1"/>
          </p:cNvSpPr>
          <p:nvPr/>
        </p:nvSpPr>
        <p:spPr>
          <a:xfrm xmlns:a="http://schemas.openxmlformats.org/drawingml/2006/main">
            <a:off x="400050" y="62865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F6368"/>
                </a:solidFill>
                <a:latin typeface="Helvetica Neue"/>
                <a:ea typeface="Helvetica Neue"/>
                <a:cs typeface="Helvetica Neue"/>
              </a:defRPr>
            </a:pPr>
            <a:r>
              <a:rPr sz="1050" b="0">
                <a:solidFill>
                  <a:srgbClr val="5F6368"/>
                </a:solidFill>
                <a:latin typeface="Helvetica Neue"/>
                <a:ea typeface="Helvetica Neue"/>
                <a:cs typeface="Helvetica Neue"/>
              </a:rPr>
              <a:t>26 Aug 2026</a:t>
            </a:r>
          </a:p>
        </p:txBody>
      </p:sp>
    </p:spTree>
    <p:extLst>
      <p:ext uri="{BB962C8B-B14F-4D97-AF65-F5344CB8AC3E}">
        <p14:creationId xmlns:p14="http://schemas.microsoft.com/office/powerpoint/2010/main" val="4233529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4CCF564-8EDD-46BC-893E-4B87CF2346B5}"/>
              </a:ext>
            </a:extLst>
          </p:cNvPr>
          <p:cNvSpPr>
            <a:spLocks xmlns:a="http://schemas.openxmlformats.org/drawingml/2006/main" noGrp="1"/>
          </p:cNvSpPr>
          <p:nvPr/>
        </p:nvSpPr>
        <p:spPr>
          <a:xfrm xmlns:a="http://schemas.openxmlformats.org/drawingml/2006/main">
            <a:off x="400050" y="28575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The unscaled XᵀX route is much less well-conditioned</a:t>
            </a:r>
          </a:p>
        </p:txBody>
      </p:sp>
      <p:sp>
        <p:nvSpPr>
          <p:cNvPr id="2" name="">
            <a:extLst xmlns:a="http://schemas.openxmlformats.org/drawingml/2006/main">
              <a:ext uri="{FF2B5EF4-FFF2-40B4-BE49-F238E27FC236}">
                <a16:creationId xmlns:a16="http://schemas.microsoft.com/office/drawing/2014/main" id="{647C4DF8-62FA-4985-9951-8DE6C09D79D1}"/>
              </a:ext>
            </a:extLst>
          </p:cNvPr>
          <p:cNvSpPr>
            <a:spLocks xmlns:a="http://schemas.openxmlformats.org/drawingml/2006/main" noGrp="1"/>
          </p:cNvSpPr>
          <p:nvPr/>
        </p:nvSpPr>
        <p:spPr>
          <a:xfrm xmlns:a="http://schemas.openxmlformats.org/drawingml/2006/main">
            <a:off x="400050" y="1009650"/>
            <a:ext cx="113919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DF81C2E-93AD-4C40-9BEA-BA2F62631281}"/>
              </a:ext>
            </a:extLst>
          </p:cNvPr>
          <p:cNvSpPr>
            <a:spLocks xmlns:a="http://schemas.openxmlformats.org/drawingml/2006/main" noGrp="1"/>
          </p:cNvSpPr>
          <p:nvPr/>
        </p:nvSpPr>
        <p:spPr>
          <a:xfrm xmlns:a="http://schemas.openxmlformats.org/drawingml/2006/main">
            <a:off x="400050" y="64865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PRELIMINARY  •  HMS 6.667 GeV</a:t>
            </a:r>
          </a:p>
        </p:txBody>
      </p:sp>
      <p:sp>
        <p:nvSpPr>
          <p:cNvPr id="4" name="">
            <a:extLst xmlns:a="http://schemas.openxmlformats.org/drawingml/2006/main">
              <a:ext uri="{FF2B5EF4-FFF2-40B4-BE49-F238E27FC236}">
                <a16:creationId xmlns:a16="http://schemas.microsoft.com/office/drawing/2014/main" id="{0FCD78BA-8980-4E80-AE8A-C617BB094BB9}"/>
              </a:ext>
            </a:extLst>
          </p:cNvPr>
          <p:cNvSpPr>
            <a:spLocks xmlns:a="http://schemas.openxmlformats.org/drawingml/2006/main" noGrp="1"/>
          </p:cNvSpPr>
          <p:nvPr/>
        </p:nvSpPr>
        <p:spPr>
          <a:xfrm xmlns:a="http://schemas.openxmlformats.org/drawingml/2006/main">
            <a:off x="11353800" y="648652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2ba1166fec54c93"/>
          <a:stretch xmlns:a="http://schemas.openxmlformats.org/drawingml/2006/main"/>
        </p:blipFill>
        <p:spPr>
          <a:xfrm xmlns:a="http://schemas.openxmlformats.org/drawingml/2006/main">
            <a:off x="912673" y="1257300"/>
            <a:ext cx="6994805" cy="4838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DFA4AD8-D880-4B8A-B6FB-1218EB332A9B}"/>
              </a:ext>
            </a:extLst>
          </p:cNvPr>
          <p:cNvSpPr>
            <a:spLocks xmlns:a="http://schemas.openxmlformats.org/drawingml/2006/main" noGrp="1"/>
          </p:cNvSpPr>
          <p:nvPr/>
        </p:nvSpPr>
        <p:spPr>
          <a:xfrm xmlns:a="http://schemas.openxmlformats.org/drawingml/2006/main">
            <a:off x="8782050" y="1257300"/>
            <a:ext cx="3009900" cy="4838700"/>
          </a:xfrm>
          <a:prstGeom xmlns:a="http://schemas.openxmlformats.org/drawingml/2006/main" prst="rect">
            <a:avLst/>
          </a:prstGeom>
          <a:solidFill xmlns:a="http://schemas.openxmlformats.org/drawingml/2006/main">
            <a:srgbClr val="F1F1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55C2143-CB17-4007-BF91-2494ED87DE02}"/>
              </a:ext>
            </a:extLst>
          </p:cNvPr>
          <p:cNvSpPr>
            <a:spLocks xmlns:a="http://schemas.openxmlformats.org/drawingml/2006/main" noGrp="1"/>
          </p:cNvSpPr>
          <p:nvPr/>
        </p:nvSpPr>
        <p:spPr>
          <a:xfrm xmlns:a="http://schemas.openxmlformats.org/drawingml/2006/main">
            <a:off x="9048750" y="15621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5F6368"/>
                </a:solidFill>
                <a:latin typeface="Helvetica Neue"/>
                <a:ea typeface="Helvetica Neue"/>
                <a:cs typeface="Helvetica Neue"/>
              </a:defRPr>
            </a:pPr>
            <a:r>
              <a:rPr sz="1125" b="1">
                <a:solidFill>
                  <a:srgbClr val="5F6368"/>
                </a:solidFill>
                <a:latin typeface="Helvetica Neue"/>
                <a:ea typeface="Helvetica Neue"/>
                <a:cs typeface="Helvetica Neue"/>
              </a:rPr>
              <a:t>AT N = 210</a:t>
            </a:r>
          </a:p>
        </p:txBody>
      </p:sp>
      <p:sp>
        <p:nvSpPr>
          <p:cNvPr id="8" name="">
            <a:extLst xmlns:a="http://schemas.openxmlformats.org/drawingml/2006/main">
              <a:ext uri="{FF2B5EF4-FFF2-40B4-BE49-F238E27FC236}">
                <a16:creationId xmlns:a16="http://schemas.microsoft.com/office/drawing/2014/main" id="{4ED5EF16-C566-4614-9964-AA651B10CC4A}"/>
              </a:ext>
            </a:extLst>
          </p:cNvPr>
          <p:cNvSpPr>
            <a:spLocks xmlns:a="http://schemas.openxmlformats.org/drawingml/2006/main" noGrp="1"/>
          </p:cNvSpPr>
          <p:nvPr/>
        </p:nvSpPr>
        <p:spPr>
          <a:xfrm xmlns:a="http://schemas.openxmlformats.org/drawingml/2006/main">
            <a:off x="9048750" y="1971675"/>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3D8DFF"/>
                </a:solidFill>
                <a:latin typeface="Helvetica Neue"/>
                <a:ea typeface="Helvetica Neue"/>
                <a:cs typeface="Helvetica Neue"/>
              </a:defRPr>
            </a:pPr>
            <a:r>
              <a:rPr sz="3300" b="1">
                <a:solidFill>
                  <a:srgbClr val="3D8DFF"/>
                </a:solidFill>
                <a:latin typeface="Helvetica Neue"/>
                <a:ea typeface="Helvetica Neue"/>
                <a:cs typeface="Helvetica Neue"/>
              </a:rPr>
              <a:t>5.7 × 10²⁶</a:t>
            </a:r>
          </a:p>
        </p:txBody>
      </p:sp>
      <p:sp>
        <p:nvSpPr>
          <p:cNvPr id="9" name="">
            <a:extLst xmlns:a="http://schemas.openxmlformats.org/drawingml/2006/main">
              <a:ext uri="{FF2B5EF4-FFF2-40B4-BE49-F238E27FC236}">
                <a16:creationId xmlns:a16="http://schemas.microsoft.com/office/drawing/2014/main" id="{F6F5A038-4F4C-40D6-BB41-92A682B74D2D}"/>
              </a:ext>
            </a:extLst>
          </p:cNvPr>
          <p:cNvSpPr>
            <a:spLocks xmlns:a="http://schemas.openxmlformats.org/drawingml/2006/main" noGrp="1"/>
          </p:cNvSpPr>
          <p:nvPr/>
        </p:nvSpPr>
        <p:spPr>
          <a:xfrm xmlns:a="http://schemas.openxmlformats.org/drawingml/2006/main">
            <a:off x="9048750" y="2952750"/>
            <a:ext cx="247650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Condition number for the current unscaled XᵀX solve.</a:t>
            </a:r>
          </a:p>
          <a:p xmlns:a="http://schemas.openxmlformats.org/drawingml/2006/main">
            <a:r>
              <a:t/>
            </a:r>
          </a:p>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Rescaling the columns and solving X directly reduces this to about 3.5 × 10⁵.</a:t>
            </a:r>
          </a:p>
        </p:txBody>
      </p:sp>
      <p:sp>
        <p:nvSpPr>
          <p:cNvPr id="10" name="">
            <a:extLst xmlns:a="http://schemas.openxmlformats.org/drawingml/2006/main">
              <a:ext uri="{FF2B5EF4-FFF2-40B4-BE49-F238E27FC236}">
                <a16:creationId xmlns:a16="http://schemas.microsoft.com/office/drawing/2014/main" id="{F4743E0E-96CA-4E88-AE1B-06881D269D79}"/>
              </a:ext>
            </a:extLst>
          </p:cNvPr>
          <p:cNvSpPr>
            <a:spLocks xmlns:a="http://schemas.openxmlformats.org/drawingml/2006/main" noGrp="1"/>
          </p:cNvSpPr>
          <p:nvPr/>
        </p:nvSpPr>
        <p:spPr>
          <a:xfrm xmlns:a="http://schemas.openxmlformats.org/drawingml/2006/main">
            <a:off x="9048750" y="54673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F6368"/>
                </a:solidFill>
                <a:latin typeface="Helvetica Neue"/>
                <a:ea typeface="Helvetica Neue"/>
                <a:cs typeface="Helvetica Neue"/>
              </a:defRPr>
            </a:pPr>
            <a:r>
              <a:rPr sz="975" b="0">
                <a:solidFill>
                  <a:srgbClr val="5F6368"/>
                </a:solidFill>
                <a:latin typeface="Helvetica Neue"/>
                <a:ea typeface="Helvetica Neue"/>
                <a:cs typeface="Helvetica Neue"/>
              </a:rPr>
              <a:t>A larger condition number means small numerical or data changes can be amplified more strongly.</a:t>
            </a:r>
          </a:p>
        </p:txBody>
      </p:sp>
    </p:spTree>
    <p:extLst>
      <p:ext uri="{BB962C8B-B14F-4D97-AF65-F5344CB8AC3E}">
        <p14:creationId xmlns:p14="http://schemas.microsoft.com/office/powerpoint/2010/main" val="2974540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4967FC4-1849-45FE-ACF2-A4301EEE8CF9}"/>
              </a:ext>
            </a:extLst>
          </p:cNvPr>
          <p:cNvSpPr>
            <a:spLocks xmlns:a="http://schemas.openxmlformats.org/drawingml/2006/main" noGrp="1"/>
          </p:cNvSpPr>
          <p:nvPr/>
        </p:nvSpPr>
        <p:spPr>
          <a:xfrm xmlns:a="http://schemas.openxmlformats.org/drawingml/2006/main">
            <a:off x="400050" y="28575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ROOT first drops one unresolved direction at N = 54</a:t>
            </a:r>
          </a:p>
        </p:txBody>
      </p:sp>
      <p:sp>
        <p:nvSpPr>
          <p:cNvPr id="2" name="">
            <a:extLst xmlns:a="http://schemas.openxmlformats.org/drawingml/2006/main">
              <a:ext uri="{FF2B5EF4-FFF2-40B4-BE49-F238E27FC236}">
                <a16:creationId xmlns:a16="http://schemas.microsoft.com/office/drawing/2014/main" id="{4AC1CA81-BA58-4696-8AAA-E42D9103DA55}"/>
              </a:ext>
            </a:extLst>
          </p:cNvPr>
          <p:cNvSpPr>
            <a:spLocks xmlns:a="http://schemas.openxmlformats.org/drawingml/2006/main" noGrp="1"/>
          </p:cNvSpPr>
          <p:nvPr/>
        </p:nvSpPr>
        <p:spPr>
          <a:xfrm xmlns:a="http://schemas.openxmlformats.org/drawingml/2006/main">
            <a:off x="400050" y="1009650"/>
            <a:ext cx="113919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19EB983-8073-4696-AAE8-09373D8E5BC4}"/>
              </a:ext>
            </a:extLst>
          </p:cNvPr>
          <p:cNvSpPr>
            <a:spLocks xmlns:a="http://schemas.openxmlformats.org/drawingml/2006/main" noGrp="1"/>
          </p:cNvSpPr>
          <p:nvPr/>
        </p:nvSpPr>
        <p:spPr>
          <a:xfrm xmlns:a="http://schemas.openxmlformats.org/drawingml/2006/main">
            <a:off x="400050" y="64865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PRELIMINARY  •  HMS 6.667 GeV</a:t>
            </a:r>
          </a:p>
        </p:txBody>
      </p:sp>
      <p:sp>
        <p:nvSpPr>
          <p:cNvPr id="4" name="">
            <a:extLst xmlns:a="http://schemas.openxmlformats.org/drawingml/2006/main">
              <a:ext uri="{FF2B5EF4-FFF2-40B4-BE49-F238E27FC236}">
                <a16:creationId xmlns:a16="http://schemas.microsoft.com/office/drawing/2014/main" id="{47DCAEF4-C07D-40D3-A532-5F3693AE8BD8}"/>
              </a:ext>
            </a:extLst>
          </p:cNvPr>
          <p:cNvSpPr>
            <a:spLocks xmlns:a="http://schemas.openxmlformats.org/drawingml/2006/main" noGrp="1"/>
          </p:cNvSpPr>
          <p:nvPr/>
        </p:nvSpPr>
        <p:spPr>
          <a:xfrm xmlns:a="http://schemas.openxmlformats.org/drawingml/2006/main">
            <a:off x="11353800" y="648652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58bfccb33b64209"/>
          <a:stretch xmlns:a="http://schemas.openxmlformats.org/drawingml/2006/main"/>
        </p:blipFill>
        <p:spPr>
          <a:xfrm xmlns:a="http://schemas.openxmlformats.org/drawingml/2006/main">
            <a:off x="912673" y="1257300"/>
            <a:ext cx="6994805" cy="4838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AD66935-90AA-4478-A85A-81E6161B785B}"/>
              </a:ext>
            </a:extLst>
          </p:cNvPr>
          <p:cNvSpPr>
            <a:spLocks xmlns:a="http://schemas.openxmlformats.org/drawingml/2006/main" noGrp="1"/>
          </p:cNvSpPr>
          <p:nvPr/>
        </p:nvSpPr>
        <p:spPr>
          <a:xfrm xmlns:a="http://schemas.openxmlformats.org/drawingml/2006/main">
            <a:off x="8782050" y="1257300"/>
            <a:ext cx="3009900" cy="4838700"/>
          </a:xfrm>
          <a:prstGeom xmlns:a="http://schemas.openxmlformats.org/drawingml/2006/main" prst="rect">
            <a:avLst/>
          </a:prstGeom>
          <a:solidFill xmlns:a="http://schemas.openxmlformats.org/drawingml/2006/main">
            <a:srgbClr val="F1F1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26B0840-ED17-48C1-ACC2-CE8BC2B79751}"/>
              </a:ext>
            </a:extLst>
          </p:cNvPr>
          <p:cNvSpPr>
            <a:spLocks xmlns:a="http://schemas.openxmlformats.org/drawingml/2006/main" noGrp="1"/>
          </p:cNvSpPr>
          <p:nvPr/>
        </p:nvSpPr>
        <p:spPr>
          <a:xfrm xmlns:a="http://schemas.openxmlformats.org/drawingml/2006/main">
            <a:off x="9048750" y="15621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5F6368"/>
                </a:solidFill>
                <a:latin typeface="Helvetica Neue"/>
                <a:ea typeface="Helvetica Neue"/>
                <a:cs typeface="Helvetica Neue"/>
              </a:defRPr>
            </a:pPr>
            <a:r>
              <a:rPr sz="1125" b="1">
                <a:solidFill>
                  <a:srgbClr val="5F6368"/>
                </a:solidFill>
                <a:latin typeface="Helvetica Neue"/>
                <a:ea typeface="Helvetica Neue"/>
                <a:cs typeface="Helvetica Neue"/>
              </a:rPr>
              <a:t>CURRENT XᵀX SOLVE</a:t>
            </a:r>
          </a:p>
        </p:txBody>
      </p:sp>
      <p:sp>
        <p:nvSpPr>
          <p:cNvPr id="8" name="">
            <a:extLst xmlns:a="http://schemas.openxmlformats.org/drawingml/2006/main">
              <a:ext uri="{FF2B5EF4-FFF2-40B4-BE49-F238E27FC236}">
                <a16:creationId xmlns:a16="http://schemas.microsoft.com/office/drawing/2014/main" id="{27786BC9-85A5-4A42-86B9-E49398CFBD38}"/>
              </a:ext>
            </a:extLst>
          </p:cNvPr>
          <p:cNvSpPr>
            <a:spLocks xmlns:a="http://schemas.openxmlformats.org/drawingml/2006/main" noGrp="1"/>
          </p:cNvSpPr>
          <p:nvPr/>
        </p:nvSpPr>
        <p:spPr>
          <a:xfrm xmlns:a="http://schemas.openxmlformats.org/drawingml/2006/main">
            <a:off x="9048750" y="1971675"/>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3D8DFF"/>
                </a:solidFill>
                <a:latin typeface="Helvetica Neue"/>
                <a:ea typeface="Helvetica Neue"/>
                <a:cs typeface="Helvetica Neue"/>
              </a:defRPr>
            </a:pPr>
            <a:r>
              <a:rPr sz="3300" b="1">
                <a:solidFill>
                  <a:srgbClr val="3D8DFF"/>
                </a:solidFill>
                <a:latin typeface="Helvetica Neue"/>
                <a:ea typeface="Helvetica Neue"/>
                <a:cs typeface="Helvetica Neue"/>
              </a:rPr>
              <a:t>111 / 210</a:t>
            </a:r>
          </a:p>
        </p:txBody>
      </p:sp>
      <p:sp>
        <p:nvSpPr>
          <p:cNvPr id="9" name="">
            <a:extLst xmlns:a="http://schemas.openxmlformats.org/drawingml/2006/main">
              <a:ext uri="{FF2B5EF4-FFF2-40B4-BE49-F238E27FC236}">
                <a16:creationId xmlns:a16="http://schemas.microsoft.com/office/drawing/2014/main" id="{21C8207A-A5BA-4A5B-A8A3-DBE460B6325C}"/>
              </a:ext>
            </a:extLst>
          </p:cNvPr>
          <p:cNvSpPr>
            <a:spLocks xmlns:a="http://schemas.openxmlformats.org/drawingml/2006/main" noGrp="1"/>
          </p:cNvSpPr>
          <p:nvPr/>
        </p:nvSpPr>
        <p:spPr>
          <a:xfrm xmlns:a="http://schemas.openxmlformats.org/drawingml/2006/main">
            <a:off x="9048750" y="2952750"/>
            <a:ext cx="247650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Independent directions retained at N = 210.</a:t>
            </a:r>
          </a:p>
          <a:p xmlns:a="http://schemas.openxmlformats.org/drawingml/2006/main">
            <a:r>
              <a:t/>
            </a:r>
          </a:p>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Truncation remains active after N = 54, but some later terms still add independent information until the retained rank reaches 111 by N = 176.</a:t>
            </a:r>
          </a:p>
        </p:txBody>
      </p:sp>
      <p:sp>
        <p:nvSpPr>
          <p:cNvPr id="10" name="">
            <a:extLst xmlns:a="http://schemas.openxmlformats.org/drawingml/2006/main">
              <a:ext uri="{FF2B5EF4-FFF2-40B4-BE49-F238E27FC236}">
                <a16:creationId xmlns:a16="http://schemas.microsoft.com/office/drawing/2014/main" id="{47CFC63A-6BFA-4D5D-860D-A6085E00B44A}"/>
              </a:ext>
            </a:extLst>
          </p:cNvPr>
          <p:cNvSpPr>
            <a:spLocks xmlns:a="http://schemas.openxmlformats.org/drawingml/2006/main" noGrp="1"/>
          </p:cNvSpPr>
          <p:nvPr/>
        </p:nvSpPr>
        <p:spPr>
          <a:xfrm xmlns:a="http://schemas.openxmlformats.org/drawingml/2006/main">
            <a:off x="9048750" y="54673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F6368"/>
                </a:solidFill>
                <a:latin typeface="Helvetica Neue"/>
                <a:ea typeface="Helvetica Neue"/>
                <a:cs typeface="Helvetica Neue"/>
              </a:defRPr>
            </a:pPr>
            <a:r>
              <a:rPr sz="975" b="0">
                <a:solidFill>
                  <a:srgbClr val="5F6368"/>
                </a:solidFill>
                <a:latin typeface="Helvetica Neue"/>
                <a:ea typeface="Helvetica Neue"/>
                <a:cs typeface="Helvetica Neue"/>
              </a:rPr>
              <a:t>A truncated direction is a mixture of fitted coefficients; it does not mean one named coefficient is simply set to zero.</a:t>
            </a:r>
          </a:p>
        </p:txBody>
      </p:sp>
    </p:spTree>
    <p:extLst>
      <p:ext uri="{BB962C8B-B14F-4D97-AF65-F5344CB8AC3E}">
        <p14:creationId xmlns:p14="http://schemas.microsoft.com/office/powerpoint/2010/main" val="2692562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4F12860-3699-4DA9-BAE4-BA06E5E841E0}"/>
              </a:ext>
            </a:extLst>
          </p:cNvPr>
          <p:cNvSpPr>
            <a:spLocks xmlns:a="http://schemas.openxmlformats.org/drawingml/2006/main" noGrp="1"/>
          </p:cNvSpPr>
          <p:nvPr/>
        </p:nvSpPr>
        <p:spPr>
          <a:xfrm xmlns:a="http://schemas.openxmlformats.org/drawingml/2006/main">
            <a:off x="400050" y="28575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Each solve is compared with its own truncation cutoff</a:t>
            </a:r>
          </a:p>
        </p:txBody>
      </p:sp>
      <p:sp>
        <p:nvSpPr>
          <p:cNvPr id="2" name="">
            <a:extLst xmlns:a="http://schemas.openxmlformats.org/drawingml/2006/main">
              <a:ext uri="{FF2B5EF4-FFF2-40B4-BE49-F238E27FC236}">
                <a16:creationId xmlns:a16="http://schemas.microsoft.com/office/drawing/2014/main" id="{A3D34004-D3A9-4AC0-A842-C46EB9D93BBD}"/>
              </a:ext>
            </a:extLst>
          </p:cNvPr>
          <p:cNvSpPr>
            <a:spLocks xmlns:a="http://schemas.openxmlformats.org/drawingml/2006/main" noGrp="1"/>
          </p:cNvSpPr>
          <p:nvPr/>
        </p:nvSpPr>
        <p:spPr>
          <a:xfrm xmlns:a="http://schemas.openxmlformats.org/drawingml/2006/main">
            <a:off x="400050" y="1009650"/>
            <a:ext cx="113919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852F2E2-5ECA-4EF5-ACAE-45422794285C}"/>
              </a:ext>
            </a:extLst>
          </p:cNvPr>
          <p:cNvSpPr>
            <a:spLocks xmlns:a="http://schemas.openxmlformats.org/drawingml/2006/main" noGrp="1"/>
          </p:cNvSpPr>
          <p:nvPr/>
        </p:nvSpPr>
        <p:spPr>
          <a:xfrm xmlns:a="http://schemas.openxmlformats.org/drawingml/2006/main">
            <a:off x="400050" y="64865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PRELIMINARY  •  HMS 6.667 GeV</a:t>
            </a:r>
          </a:p>
        </p:txBody>
      </p:sp>
      <p:sp>
        <p:nvSpPr>
          <p:cNvPr id="4" name="">
            <a:extLst xmlns:a="http://schemas.openxmlformats.org/drawingml/2006/main">
              <a:ext uri="{FF2B5EF4-FFF2-40B4-BE49-F238E27FC236}">
                <a16:creationId xmlns:a16="http://schemas.microsoft.com/office/drawing/2014/main" id="{59502545-C9CB-47D7-8176-7A6A2069D05B}"/>
              </a:ext>
            </a:extLst>
          </p:cNvPr>
          <p:cNvSpPr>
            <a:spLocks xmlns:a="http://schemas.openxmlformats.org/drawingml/2006/main" noGrp="1"/>
          </p:cNvSpPr>
          <p:nvPr/>
        </p:nvSpPr>
        <p:spPr>
          <a:xfrm xmlns:a="http://schemas.openxmlformats.org/drawingml/2006/main">
            <a:off x="11353800" y="648652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f9ad42122714335"/>
          <a:stretch xmlns:a="http://schemas.openxmlformats.org/drawingml/2006/main"/>
        </p:blipFill>
        <p:spPr>
          <a:xfrm xmlns:a="http://schemas.openxmlformats.org/drawingml/2006/main">
            <a:off x="952916" y="1257300"/>
            <a:ext cx="6914317" cy="4838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9C6B2C3-1CFF-4D24-848E-BA882443971E}"/>
              </a:ext>
            </a:extLst>
          </p:cNvPr>
          <p:cNvSpPr>
            <a:spLocks xmlns:a="http://schemas.openxmlformats.org/drawingml/2006/main" noGrp="1"/>
          </p:cNvSpPr>
          <p:nvPr/>
        </p:nvSpPr>
        <p:spPr>
          <a:xfrm xmlns:a="http://schemas.openxmlformats.org/drawingml/2006/main">
            <a:off x="8782050" y="1257300"/>
            <a:ext cx="3009900" cy="4838700"/>
          </a:xfrm>
          <a:prstGeom xmlns:a="http://schemas.openxmlformats.org/drawingml/2006/main" prst="rect">
            <a:avLst/>
          </a:prstGeom>
          <a:solidFill xmlns:a="http://schemas.openxmlformats.org/drawingml/2006/main">
            <a:srgbClr val="F1F1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2243C34-644E-4F53-BF53-250A7DD512CC}"/>
              </a:ext>
            </a:extLst>
          </p:cNvPr>
          <p:cNvSpPr>
            <a:spLocks xmlns:a="http://schemas.openxmlformats.org/drawingml/2006/main" noGrp="1"/>
          </p:cNvSpPr>
          <p:nvPr/>
        </p:nvSpPr>
        <p:spPr>
          <a:xfrm xmlns:a="http://schemas.openxmlformats.org/drawingml/2006/main">
            <a:off x="9048750" y="15621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5F6368"/>
                </a:solidFill>
                <a:latin typeface="Helvetica Neue"/>
                <a:ea typeface="Helvetica Neue"/>
                <a:cs typeface="Helvetica Neue"/>
              </a:defRPr>
            </a:pPr>
            <a:r>
              <a:rPr sz="1125" b="1">
                <a:solidFill>
                  <a:srgbClr val="5F6368"/>
                </a:solidFill>
                <a:latin typeface="Helvetica Neue"/>
                <a:ea typeface="Helvetica Neue"/>
                <a:cs typeface="Helvetica Neue"/>
              </a:rPr>
              <a:t>HOW TO READ ZERO</a:t>
            </a:r>
          </a:p>
        </p:txBody>
      </p:sp>
      <p:sp>
        <p:nvSpPr>
          <p:cNvPr id="8" name="">
            <a:extLst xmlns:a="http://schemas.openxmlformats.org/drawingml/2006/main">
              <a:ext uri="{FF2B5EF4-FFF2-40B4-BE49-F238E27FC236}">
                <a16:creationId xmlns:a16="http://schemas.microsoft.com/office/drawing/2014/main" id="{0114447D-D4D9-4F0F-BC7C-62DB3D82025A}"/>
              </a:ext>
            </a:extLst>
          </p:cNvPr>
          <p:cNvSpPr>
            <a:spLocks xmlns:a="http://schemas.openxmlformats.org/drawingml/2006/main" noGrp="1"/>
          </p:cNvSpPr>
          <p:nvPr/>
        </p:nvSpPr>
        <p:spPr>
          <a:xfrm xmlns:a="http://schemas.openxmlformats.org/drawingml/2006/main">
            <a:off x="9048750" y="1971675"/>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3D8DFF"/>
                </a:solidFill>
                <a:latin typeface="Helvetica Neue"/>
                <a:ea typeface="Helvetica Neue"/>
                <a:cs typeface="Helvetica Neue"/>
              </a:defRPr>
            </a:pPr>
            <a:r>
              <a:rPr sz="3300" b="1">
                <a:solidFill>
                  <a:srgbClr val="3D8DFF"/>
                </a:solidFill>
                <a:latin typeface="Helvetica Neue"/>
                <a:ea typeface="Helvetica Neue"/>
                <a:cs typeface="Helvetica Neue"/>
              </a:rPr>
              <a:t>0</a:t>
            </a:r>
          </a:p>
        </p:txBody>
      </p:sp>
      <p:sp>
        <p:nvSpPr>
          <p:cNvPr id="9" name="">
            <a:extLst xmlns:a="http://schemas.openxmlformats.org/drawingml/2006/main">
              <a:ext uri="{FF2B5EF4-FFF2-40B4-BE49-F238E27FC236}">
                <a16:creationId xmlns:a16="http://schemas.microsoft.com/office/drawing/2014/main" id="{5687EAB1-50BE-4BF8-8F4C-D54773873FEA}"/>
              </a:ext>
            </a:extLst>
          </p:cNvPr>
          <p:cNvSpPr>
            <a:spLocks xmlns:a="http://schemas.openxmlformats.org/drawingml/2006/main" noGrp="1"/>
          </p:cNvSpPr>
          <p:nvPr/>
        </p:nvSpPr>
        <p:spPr>
          <a:xfrm xmlns:a="http://schemas.openxmlformats.org/drawingml/2006/main">
            <a:off x="9048750" y="2952750"/>
            <a:ext cx="247650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Zero means the smallest singular value has reached that solve’s truncation threshold.</a:t>
            </a:r>
          </a:p>
          <a:p xmlns:a="http://schemas.openxmlformats.org/drawingml/2006/main">
            <a:r>
              <a:t/>
            </a:r>
          </a:p>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Positive values are above the cutoff; negative values have crossed it.</a:t>
            </a:r>
          </a:p>
        </p:txBody>
      </p:sp>
      <p:sp>
        <p:nvSpPr>
          <p:cNvPr id="10" name="">
            <a:extLst xmlns:a="http://schemas.openxmlformats.org/drawingml/2006/main">
              <a:ext uri="{FF2B5EF4-FFF2-40B4-BE49-F238E27FC236}">
                <a16:creationId xmlns:a16="http://schemas.microsoft.com/office/drawing/2014/main" id="{51F83764-A653-43A0-BD2C-74DA7F2DD731}"/>
              </a:ext>
            </a:extLst>
          </p:cNvPr>
          <p:cNvSpPr>
            <a:spLocks xmlns:a="http://schemas.openxmlformats.org/drawingml/2006/main" noGrp="1"/>
          </p:cNvSpPr>
          <p:nvPr/>
        </p:nvSpPr>
        <p:spPr>
          <a:xfrm xmlns:a="http://schemas.openxmlformats.org/drawingml/2006/main">
            <a:off x="9048750" y="54673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F6368"/>
                </a:solidFill>
                <a:latin typeface="Helvetica Neue"/>
                <a:ea typeface="Helvetica Neue"/>
                <a:cs typeface="Helvetica Neue"/>
              </a:defRPr>
            </a:pPr>
            <a:r>
              <a:rPr sz="975" b="0">
                <a:solidFill>
                  <a:srgbClr val="5F6368"/>
                </a:solidFill>
                <a:latin typeface="Helvetica Neue"/>
                <a:ea typeface="Helvetica Neue"/>
                <a:cs typeface="Helvetica Neue"/>
              </a:rPr>
              <a:t>This is a solve-by-solve distance from threshold, not one fixed horizontal threshold applied to every N.</a:t>
            </a:r>
          </a:p>
        </p:txBody>
      </p:sp>
    </p:spTree>
    <p:extLst>
      <p:ext uri="{BB962C8B-B14F-4D97-AF65-F5344CB8AC3E}">
        <p14:creationId xmlns:p14="http://schemas.microsoft.com/office/powerpoint/2010/main" val="12226878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088C953-DB26-45A4-8AA5-51DBB7B7E560}"/>
              </a:ext>
            </a:extLst>
          </p:cNvPr>
          <p:cNvSpPr>
            <a:spLocks xmlns:a="http://schemas.openxmlformats.org/drawingml/2006/main" noGrp="1"/>
          </p:cNvSpPr>
          <p:nvPr/>
        </p:nvSpPr>
        <p:spPr>
          <a:xfrm xmlns:a="http://schemas.openxmlformats.org/drawingml/2006/main">
            <a:off x="400050" y="28575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Held-out residuals reveal behavior that training residuals miss</a:t>
            </a:r>
          </a:p>
        </p:txBody>
      </p:sp>
      <p:sp>
        <p:nvSpPr>
          <p:cNvPr id="2" name="">
            <a:extLst xmlns:a="http://schemas.openxmlformats.org/drawingml/2006/main">
              <a:ext uri="{FF2B5EF4-FFF2-40B4-BE49-F238E27FC236}">
                <a16:creationId xmlns:a16="http://schemas.microsoft.com/office/drawing/2014/main" id="{87464278-6B87-43B8-B19D-BB931D99763F}"/>
              </a:ext>
            </a:extLst>
          </p:cNvPr>
          <p:cNvSpPr>
            <a:spLocks xmlns:a="http://schemas.openxmlformats.org/drawingml/2006/main" noGrp="1"/>
          </p:cNvSpPr>
          <p:nvPr/>
        </p:nvSpPr>
        <p:spPr>
          <a:xfrm xmlns:a="http://schemas.openxmlformats.org/drawingml/2006/main">
            <a:off x="400050" y="1009650"/>
            <a:ext cx="113919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501EBD3-8C00-40EE-8F5E-BC523E43312B}"/>
              </a:ext>
            </a:extLst>
          </p:cNvPr>
          <p:cNvSpPr>
            <a:spLocks xmlns:a="http://schemas.openxmlformats.org/drawingml/2006/main" noGrp="1"/>
          </p:cNvSpPr>
          <p:nvPr/>
        </p:nvSpPr>
        <p:spPr>
          <a:xfrm xmlns:a="http://schemas.openxmlformats.org/drawingml/2006/main">
            <a:off x="400050" y="64865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PRELIMINARY  •  HMS 6.667 GeV</a:t>
            </a:r>
          </a:p>
        </p:txBody>
      </p:sp>
      <p:sp>
        <p:nvSpPr>
          <p:cNvPr id="4" name="">
            <a:extLst xmlns:a="http://schemas.openxmlformats.org/drawingml/2006/main">
              <a:ext uri="{FF2B5EF4-FFF2-40B4-BE49-F238E27FC236}">
                <a16:creationId xmlns:a16="http://schemas.microsoft.com/office/drawing/2014/main" id="{4D76A73B-6616-45C5-9D39-A383A7AE838F}"/>
              </a:ext>
            </a:extLst>
          </p:cNvPr>
          <p:cNvSpPr>
            <a:spLocks xmlns:a="http://schemas.openxmlformats.org/drawingml/2006/main" noGrp="1"/>
          </p:cNvSpPr>
          <p:nvPr/>
        </p:nvSpPr>
        <p:spPr>
          <a:xfrm xmlns:a="http://schemas.openxmlformats.org/drawingml/2006/main">
            <a:off x="11353800" y="648652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cd5974f629f4657"/>
          <a:stretch xmlns:a="http://schemas.openxmlformats.org/drawingml/2006/main"/>
        </p:blipFill>
        <p:spPr>
          <a:xfrm xmlns:a="http://schemas.openxmlformats.org/drawingml/2006/main">
            <a:off x="1313751" y="1257300"/>
            <a:ext cx="6192648" cy="4838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87EAD46-9795-4A82-9EAE-1EC288AFBB60}"/>
              </a:ext>
            </a:extLst>
          </p:cNvPr>
          <p:cNvSpPr>
            <a:spLocks xmlns:a="http://schemas.openxmlformats.org/drawingml/2006/main" noGrp="1"/>
          </p:cNvSpPr>
          <p:nvPr/>
        </p:nvSpPr>
        <p:spPr>
          <a:xfrm xmlns:a="http://schemas.openxmlformats.org/drawingml/2006/main">
            <a:off x="8782050" y="1257300"/>
            <a:ext cx="3009900" cy="4838700"/>
          </a:xfrm>
          <a:prstGeom xmlns:a="http://schemas.openxmlformats.org/drawingml/2006/main" prst="rect">
            <a:avLst/>
          </a:prstGeom>
          <a:solidFill xmlns:a="http://schemas.openxmlformats.org/drawingml/2006/main">
            <a:srgbClr val="F1F1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DF73B43-7FE5-49BB-989A-50044E3F51C3}"/>
              </a:ext>
            </a:extLst>
          </p:cNvPr>
          <p:cNvSpPr>
            <a:spLocks xmlns:a="http://schemas.openxmlformats.org/drawingml/2006/main" noGrp="1"/>
          </p:cNvSpPr>
          <p:nvPr/>
        </p:nvSpPr>
        <p:spPr>
          <a:xfrm xmlns:a="http://schemas.openxmlformats.org/drawingml/2006/main">
            <a:off x="9048750" y="15621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5F6368"/>
                </a:solidFill>
                <a:latin typeface="Helvetica Neue"/>
                <a:ea typeface="Helvetica Neue"/>
                <a:cs typeface="Helvetica Neue"/>
              </a:defRPr>
            </a:pPr>
            <a:r>
              <a:rPr sz="1125" b="1">
                <a:solidFill>
                  <a:srgbClr val="5F6368"/>
                </a:solidFill>
                <a:latin typeface="Helvetica Neue"/>
                <a:ea typeface="Helvetica Neue"/>
                <a:cs typeface="Helvetica Neue"/>
              </a:rPr>
              <a:t>TWO SAMPLES</a:t>
            </a:r>
          </a:p>
        </p:txBody>
      </p:sp>
      <p:sp>
        <p:nvSpPr>
          <p:cNvPr id="8" name="">
            <a:extLst xmlns:a="http://schemas.openxmlformats.org/drawingml/2006/main">
              <a:ext uri="{FF2B5EF4-FFF2-40B4-BE49-F238E27FC236}">
                <a16:creationId xmlns:a16="http://schemas.microsoft.com/office/drawing/2014/main" id="{DB489B41-5580-443F-A4A5-E734EE0BA708}"/>
              </a:ext>
            </a:extLst>
          </p:cNvPr>
          <p:cNvSpPr>
            <a:spLocks xmlns:a="http://schemas.openxmlformats.org/drawingml/2006/main" noGrp="1"/>
          </p:cNvSpPr>
          <p:nvPr/>
        </p:nvSpPr>
        <p:spPr>
          <a:xfrm xmlns:a="http://schemas.openxmlformats.org/drawingml/2006/main">
            <a:off x="9048750" y="1971675"/>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3D8DFF"/>
                </a:solidFill>
                <a:latin typeface="Helvetica Neue"/>
                <a:ea typeface="Helvetica Neue"/>
                <a:cs typeface="Helvetica Neue"/>
              </a:defRPr>
            </a:pPr>
            <a:r>
              <a:rPr sz="3300" b="1">
                <a:solidFill>
                  <a:srgbClr val="3D8DFF"/>
                </a:solidFill>
                <a:latin typeface="Helvetica Neue"/>
                <a:ea typeface="Helvetica Neue"/>
                <a:cs typeface="Helvetica Neue"/>
              </a:rPr>
              <a:t>166k / 279k</a:t>
            </a:r>
          </a:p>
        </p:txBody>
      </p:sp>
      <p:sp>
        <p:nvSpPr>
          <p:cNvPr id="9" name="">
            <a:extLst xmlns:a="http://schemas.openxmlformats.org/drawingml/2006/main">
              <a:ext uri="{FF2B5EF4-FFF2-40B4-BE49-F238E27FC236}">
                <a16:creationId xmlns:a16="http://schemas.microsoft.com/office/drawing/2014/main" id="{DD2E4423-91F9-428B-9005-311C8D0BCADD}"/>
              </a:ext>
            </a:extLst>
          </p:cNvPr>
          <p:cNvSpPr>
            <a:spLocks xmlns:a="http://schemas.openxmlformats.org/drawingml/2006/main" noGrp="1"/>
          </p:cNvSpPr>
          <p:nvPr/>
        </p:nvSpPr>
        <p:spPr>
          <a:xfrm xmlns:a="http://schemas.openxmlformats.org/drawingml/2006/main">
            <a:off x="9048750" y="2952750"/>
            <a:ext cx="247650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Selected training events and eligible held-out events.</a:t>
            </a:r>
          </a:p>
          <a:p xmlns:a="http://schemas.openxmlformats.org/drawingml/2006/main">
            <a:r>
              <a:t/>
            </a:r>
          </a:p>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Training residuals usually fall as N grows. Held-out residuals show where added flexibility stops carrying over to unused events.</a:t>
            </a:r>
          </a:p>
        </p:txBody>
      </p:sp>
      <p:sp>
        <p:nvSpPr>
          <p:cNvPr id="10" name="">
            <a:extLst xmlns:a="http://schemas.openxmlformats.org/drawingml/2006/main">
              <a:ext uri="{FF2B5EF4-FFF2-40B4-BE49-F238E27FC236}">
                <a16:creationId xmlns:a16="http://schemas.microsoft.com/office/drawing/2014/main" id="{B2814459-7742-46BE-BD4F-6A99FA3BE03E}"/>
              </a:ext>
            </a:extLst>
          </p:cNvPr>
          <p:cNvSpPr>
            <a:spLocks xmlns:a="http://schemas.openxmlformats.org/drawingml/2006/main" noGrp="1"/>
          </p:cNvSpPr>
          <p:nvPr/>
        </p:nvSpPr>
        <p:spPr>
          <a:xfrm xmlns:a="http://schemas.openxmlformats.org/drawingml/2006/main">
            <a:off x="9048750" y="54673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F6368"/>
                </a:solidFill>
                <a:latin typeface="Helvetica Neue"/>
                <a:ea typeface="Helvetica Neue"/>
                <a:cs typeface="Helvetica Neue"/>
              </a:defRPr>
            </a:pPr>
            <a:r>
              <a:rPr sz="975" b="0">
                <a:solidFill>
                  <a:srgbClr val="5F6368"/>
                </a:solidFill>
                <a:latin typeface="Helvetica Neue"/>
                <a:ea typeface="Helvetica Neue"/>
                <a:cs typeface="Helvetica Neue"/>
              </a:rPr>
              <a:t>Held-out events use the same runs and cuts, but were not selected for the fit.</a:t>
            </a:r>
          </a:p>
        </p:txBody>
      </p:sp>
    </p:spTree>
    <p:extLst>
      <p:ext uri="{BB962C8B-B14F-4D97-AF65-F5344CB8AC3E}">
        <p14:creationId xmlns:p14="http://schemas.microsoft.com/office/powerpoint/2010/main" val="11867305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6816E28-BC3F-4937-829F-CB2254F81374}"/>
              </a:ext>
            </a:extLst>
          </p:cNvPr>
          <p:cNvSpPr>
            <a:spLocks xmlns:a="http://schemas.openxmlformats.org/drawingml/2006/main" noGrp="1"/>
          </p:cNvSpPr>
          <p:nvPr/>
        </p:nvSpPr>
        <p:spPr>
          <a:xfrm xmlns:a="http://schemas.openxmlformats.org/drawingml/2006/main">
            <a:off x="400050" y="28575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Most foil averages do not show the same sustained x′ rise</a:t>
            </a:r>
          </a:p>
        </p:txBody>
      </p:sp>
      <p:sp>
        <p:nvSpPr>
          <p:cNvPr id="2" name="">
            <a:extLst xmlns:a="http://schemas.openxmlformats.org/drawingml/2006/main">
              <a:ext uri="{FF2B5EF4-FFF2-40B4-BE49-F238E27FC236}">
                <a16:creationId xmlns:a16="http://schemas.microsoft.com/office/drawing/2014/main" id="{05AF4475-0F0F-4C75-AA4B-12550BB46DBF}"/>
              </a:ext>
            </a:extLst>
          </p:cNvPr>
          <p:cNvSpPr>
            <a:spLocks xmlns:a="http://schemas.openxmlformats.org/drawingml/2006/main" noGrp="1"/>
          </p:cNvSpPr>
          <p:nvPr/>
        </p:nvSpPr>
        <p:spPr>
          <a:xfrm xmlns:a="http://schemas.openxmlformats.org/drawingml/2006/main">
            <a:off x="400050" y="1009650"/>
            <a:ext cx="113919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9C53083-6D63-41A7-B6DE-68147D93F24A}"/>
              </a:ext>
            </a:extLst>
          </p:cNvPr>
          <p:cNvSpPr>
            <a:spLocks xmlns:a="http://schemas.openxmlformats.org/drawingml/2006/main" noGrp="1"/>
          </p:cNvSpPr>
          <p:nvPr/>
        </p:nvSpPr>
        <p:spPr>
          <a:xfrm xmlns:a="http://schemas.openxmlformats.org/drawingml/2006/main">
            <a:off x="400050" y="64865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PRELIMINARY  •  HMS 6.667 GeV</a:t>
            </a:r>
          </a:p>
        </p:txBody>
      </p:sp>
      <p:sp>
        <p:nvSpPr>
          <p:cNvPr id="4" name="">
            <a:extLst xmlns:a="http://schemas.openxmlformats.org/drawingml/2006/main">
              <a:ext uri="{FF2B5EF4-FFF2-40B4-BE49-F238E27FC236}">
                <a16:creationId xmlns:a16="http://schemas.microsoft.com/office/drawing/2014/main" id="{EC5BFD62-6DC9-45B9-A8DF-898B1A70F5E3}"/>
              </a:ext>
            </a:extLst>
          </p:cNvPr>
          <p:cNvSpPr>
            <a:spLocks xmlns:a="http://schemas.openxmlformats.org/drawingml/2006/main" noGrp="1"/>
          </p:cNvSpPr>
          <p:nvPr/>
        </p:nvSpPr>
        <p:spPr>
          <a:xfrm xmlns:a="http://schemas.openxmlformats.org/drawingml/2006/main">
            <a:off x="11353800" y="648652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6</a:t>
            </a:r>
          </a:p>
        </p:txBody>
      </p:sp>
      <p:sp>
        <p:nvSpPr>
          <p:cNvPr id="5" name="">
            <a:extLst xmlns:a="http://schemas.openxmlformats.org/drawingml/2006/main">
              <a:ext uri="{FF2B5EF4-FFF2-40B4-BE49-F238E27FC236}">
                <a16:creationId xmlns:a16="http://schemas.microsoft.com/office/drawing/2014/main" id="{D02C2869-91F5-4157-9947-B20CD7981159}"/>
              </a:ext>
            </a:extLst>
          </p:cNvPr>
          <p:cNvSpPr>
            <a:spLocks xmlns:a="http://schemas.openxmlformats.org/drawingml/2006/main" noGrp="1"/>
          </p:cNvSpPr>
          <p:nvPr/>
        </p:nvSpPr>
        <p:spPr>
          <a:xfrm xmlns:a="http://schemas.openxmlformats.org/drawingml/2006/main">
            <a:off x="495300" y="114300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5F6368"/>
                </a:solidFill>
                <a:latin typeface="Helvetica Neue"/>
                <a:ea typeface="Helvetica Neue"/>
                <a:cs typeface="Helvetica Neue"/>
              </a:defRPr>
            </a:pPr>
            <a:r>
              <a:rPr sz="1200" b="1">
                <a:solidFill>
                  <a:srgbClr val="5F6368"/>
                </a:solidFill>
                <a:latin typeface="Helvetica Neue"/>
                <a:ea typeface="Helvetica Neue"/>
                <a:cs typeface="Helvetica Neue"/>
              </a:rPr>
              <a:t>−8 cm</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b9200b889154fb1"/>
          <a:stretch xmlns:a="http://schemas.openxmlformats.org/drawingml/2006/main"/>
        </p:blipFill>
        <p:spPr>
          <a:xfrm xmlns:a="http://schemas.openxmlformats.org/drawingml/2006/main">
            <a:off x="1731802" y="1352550"/>
            <a:ext cx="2813370" cy="22383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358F8AB-2932-4810-AA41-899BAA184062}"/>
              </a:ext>
            </a:extLst>
          </p:cNvPr>
          <p:cNvSpPr>
            <a:spLocks xmlns:a="http://schemas.openxmlformats.org/drawingml/2006/main" noGrp="1"/>
          </p:cNvSpPr>
          <p:nvPr/>
        </p:nvSpPr>
        <p:spPr>
          <a:xfrm xmlns:a="http://schemas.openxmlformats.org/drawingml/2006/main">
            <a:off x="6286500" y="114300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5F6368"/>
                </a:solidFill>
                <a:latin typeface="Helvetica Neue"/>
                <a:ea typeface="Helvetica Neue"/>
                <a:cs typeface="Helvetica Neue"/>
              </a:defRPr>
            </a:pPr>
            <a:r>
              <a:rPr sz="1200" b="1">
                <a:solidFill>
                  <a:srgbClr val="5F6368"/>
                </a:solidFill>
                <a:latin typeface="Helvetica Neue"/>
                <a:ea typeface="Helvetica Neue"/>
                <a:cs typeface="Helvetica Neue"/>
              </a:rPr>
              <a:t>−3 cm</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43369dcd69f4047"/>
          <a:stretch xmlns:a="http://schemas.openxmlformats.org/drawingml/2006/main"/>
        </p:blipFill>
        <p:spPr>
          <a:xfrm xmlns:a="http://schemas.openxmlformats.org/drawingml/2006/main">
            <a:off x="7523002" y="1352550"/>
            <a:ext cx="2813370" cy="2238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F97287F-F5C8-4AFF-BD58-08ADBE23449A}"/>
              </a:ext>
            </a:extLst>
          </p:cNvPr>
          <p:cNvSpPr>
            <a:spLocks xmlns:a="http://schemas.openxmlformats.org/drawingml/2006/main" noGrp="1"/>
          </p:cNvSpPr>
          <p:nvPr/>
        </p:nvSpPr>
        <p:spPr>
          <a:xfrm xmlns:a="http://schemas.openxmlformats.org/drawingml/2006/main">
            <a:off x="495300" y="357187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5F6368"/>
                </a:solidFill>
                <a:latin typeface="Helvetica Neue"/>
                <a:ea typeface="Helvetica Neue"/>
                <a:cs typeface="Helvetica Neue"/>
              </a:defRPr>
            </a:pPr>
            <a:r>
              <a:rPr sz="1200" b="1">
                <a:solidFill>
                  <a:srgbClr val="5F6368"/>
                </a:solidFill>
                <a:latin typeface="Helvetica Neue"/>
                <a:ea typeface="Helvetica Neue"/>
                <a:cs typeface="Helvetica Neue"/>
              </a:rPr>
              <a:t>0 cm</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46d810236924446"/>
          <a:stretch xmlns:a="http://schemas.openxmlformats.org/drawingml/2006/main"/>
        </p:blipFill>
        <p:spPr>
          <a:xfrm xmlns:a="http://schemas.openxmlformats.org/drawingml/2006/main">
            <a:off x="1731802" y="3781425"/>
            <a:ext cx="2813370" cy="2238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40BB301-C018-48CA-AE4C-EEA7DCEDE260}"/>
              </a:ext>
            </a:extLst>
          </p:cNvPr>
          <p:cNvSpPr>
            <a:spLocks xmlns:a="http://schemas.openxmlformats.org/drawingml/2006/main" noGrp="1"/>
          </p:cNvSpPr>
          <p:nvPr/>
        </p:nvSpPr>
        <p:spPr>
          <a:xfrm xmlns:a="http://schemas.openxmlformats.org/drawingml/2006/main">
            <a:off x="6286500" y="357187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5F6368"/>
                </a:solidFill>
                <a:latin typeface="Helvetica Neue"/>
                <a:ea typeface="Helvetica Neue"/>
                <a:cs typeface="Helvetica Neue"/>
              </a:defRPr>
            </a:pPr>
            <a:r>
              <a:rPr sz="1200" b="1">
                <a:solidFill>
                  <a:srgbClr val="5F6368"/>
                </a:solidFill>
                <a:latin typeface="Helvetica Neue"/>
                <a:ea typeface="Helvetica Neue"/>
                <a:cs typeface="Helvetica Neue"/>
              </a:rPr>
              <a:t>+3 cm</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cfc1398a9a842d1"/>
          <a:stretch xmlns:a="http://schemas.openxmlformats.org/drawingml/2006/main"/>
        </p:blipFill>
        <p:spPr>
          <a:xfrm xmlns:a="http://schemas.openxmlformats.org/drawingml/2006/main">
            <a:off x="7523002" y="3781425"/>
            <a:ext cx="2813370" cy="2238375"/>
          </a:xfrm>
          <a:prstGeom xmlns:a="http://schemas.openxmlformats.org/drawingml/2006/main" prst="rect">
            <a:avLst/>
          </a:prstGeom>
        </p:spPr>
      </p:pic>
    </p:spTree>
    <p:extLst>
      <p:ext uri="{BB962C8B-B14F-4D97-AF65-F5344CB8AC3E}">
        <p14:creationId xmlns:p14="http://schemas.microsoft.com/office/powerpoint/2010/main" val="181386259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AD2991D-1C9D-4BB0-B09E-DC4A15FC4D19}"/>
              </a:ext>
            </a:extLst>
          </p:cNvPr>
          <p:cNvSpPr>
            <a:spLocks xmlns:a="http://schemas.openxmlformats.org/drawingml/2006/main" noGrp="1"/>
          </p:cNvSpPr>
          <p:nvPr/>
        </p:nvSpPr>
        <p:spPr>
          <a:xfrm xmlns:a="http://schemas.openxmlformats.org/drawingml/2006/main">
            <a:off x="400050" y="28575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The +8 cm x′ curve separates the two solve routes</a:t>
            </a:r>
          </a:p>
        </p:txBody>
      </p:sp>
      <p:sp>
        <p:nvSpPr>
          <p:cNvPr id="2" name="">
            <a:extLst xmlns:a="http://schemas.openxmlformats.org/drawingml/2006/main">
              <a:ext uri="{FF2B5EF4-FFF2-40B4-BE49-F238E27FC236}">
                <a16:creationId xmlns:a16="http://schemas.microsoft.com/office/drawing/2014/main" id="{9B35F5AE-1D08-4086-8A54-68B6E404F37E}"/>
              </a:ext>
            </a:extLst>
          </p:cNvPr>
          <p:cNvSpPr>
            <a:spLocks xmlns:a="http://schemas.openxmlformats.org/drawingml/2006/main" noGrp="1"/>
          </p:cNvSpPr>
          <p:nvPr/>
        </p:nvSpPr>
        <p:spPr>
          <a:xfrm xmlns:a="http://schemas.openxmlformats.org/drawingml/2006/main">
            <a:off x="400050" y="1009650"/>
            <a:ext cx="113919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15A71A1-C34B-4EED-B886-9A8681D0B77E}"/>
              </a:ext>
            </a:extLst>
          </p:cNvPr>
          <p:cNvSpPr>
            <a:spLocks xmlns:a="http://schemas.openxmlformats.org/drawingml/2006/main" noGrp="1"/>
          </p:cNvSpPr>
          <p:nvPr/>
        </p:nvSpPr>
        <p:spPr>
          <a:xfrm xmlns:a="http://schemas.openxmlformats.org/drawingml/2006/main">
            <a:off x="400050" y="64865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PRELIMINARY  •  HMS 6.667 GeV</a:t>
            </a:r>
          </a:p>
        </p:txBody>
      </p:sp>
      <p:sp>
        <p:nvSpPr>
          <p:cNvPr id="4" name="">
            <a:extLst xmlns:a="http://schemas.openxmlformats.org/drawingml/2006/main">
              <a:ext uri="{FF2B5EF4-FFF2-40B4-BE49-F238E27FC236}">
                <a16:creationId xmlns:a16="http://schemas.microsoft.com/office/drawing/2014/main" id="{F829AEE7-CE0A-4301-9FA1-4A68AFAF0FAA}"/>
              </a:ext>
            </a:extLst>
          </p:cNvPr>
          <p:cNvSpPr>
            <a:spLocks xmlns:a="http://schemas.openxmlformats.org/drawingml/2006/main" noGrp="1"/>
          </p:cNvSpPr>
          <p:nvPr/>
        </p:nvSpPr>
        <p:spPr>
          <a:xfrm xmlns:a="http://schemas.openxmlformats.org/drawingml/2006/main">
            <a:off x="11353800" y="648652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7</a:t>
            </a:r>
          </a:p>
        </p:txBody>
      </p:sp>
      <p:sp>
        <p:nvSpPr>
          <p:cNvPr id="5" name="">
            <a:extLst xmlns:a="http://schemas.openxmlformats.org/drawingml/2006/main">
              <a:ext uri="{FF2B5EF4-FFF2-40B4-BE49-F238E27FC236}">
                <a16:creationId xmlns:a16="http://schemas.microsoft.com/office/drawing/2014/main" id="{3C60FB23-381D-45D0-8B46-C0EC84DDD25C}"/>
              </a:ext>
            </a:extLst>
          </p:cNvPr>
          <p:cNvSpPr>
            <a:spLocks xmlns:a="http://schemas.openxmlformats.org/drawingml/2006/main" noGrp="1"/>
          </p:cNvSpPr>
          <p:nvPr/>
        </p:nvSpPr>
        <p:spPr>
          <a:xfrm xmlns:a="http://schemas.openxmlformats.org/drawingml/2006/main">
            <a:off x="419100" y="11811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Rescaled direct X</a:t>
            </a:r>
          </a:p>
        </p:txBody>
      </p:sp>
      <p:sp>
        <p:nvSpPr>
          <p:cNvPr id="6" name="">
            <a:extLst xmlns:a="http://schemas.openxmlformats.org/drawingml/2006/main">
              <a:ext uri="{FF2B5EF4-FFF2-40B4-BE49-F238E27FC236}">
                <a16:creationId xmlns:a16="http://schemas.microsoft.com/office/drawing/2014/main" id="{38E22616-0CA2-4CE1-AC02-270A381BE34E}"/>
              </a:ext>
            </a:extLst>
          </p:cNvPr>
          <p:cNvSpPr>
            <a:spLocks xmlns:a="http://schemas.openxmlformats.org/drawingml/2006/main" noGrp="1"/>
          </p:cNvSpPr>
          <p:nvPr/>
        </p:nvSpPr>
        <p:spPr>
          <a:xfrm xmlns:a="http://schemas.openxmlformats.org/drawingml/2006/main">
            <a:off x="6229350" y="11811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C62828"/>
                </a:solidFill>
                <a:latin typeface="Helvetica Neue"/>
                <a:ea typeface="Helvetica Neue"/>
                <a:cs typeface="Helvetica Neue"/>
              </a:defRPr>
            </a:pPr>
            <a:r>
              <a:rPr sz="1350" b="1">
                <a:solidFill>
                  <a:srgbClr val="C62828"/>
                </a:solidFill>
                <a:latin typeface="Helvetica Neue"/>
                <a:ea typeface="Helvetica Neue"/>
                <a:cs typeface="Helvetica Neue"/>
              </a:rPr>
              <a:t>Current unscaled XᵀX</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ccc6d73470e4275"/>
          <a:stretch xmlns:a="http://schemas.openxmlformats.org/drawingml/2006/main"/>
        </p:blipFill>
        <p:spPr>
          <a:xfrm xmlns:a="http://schemas.openxmlformats.org/drawingml/2006/main">
            <a:off x="480881" y="1504950"/>
            <a:ext cx="5267587" cy="41910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eed479bfbc144a1"/>
          <a:stretch xmlns:a="http://schemas.openxmlformats.org/drawingml/2006/main"/>
        </p:blipFill>
        <p:spPr>
          <a:xfrm xmlns:a="http://schemas.openxmlformats.org/drawingml/2006/main">
            <a:off x="6272081" y="1504950"/>
            <a:ext cx="5267587" cy="4191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54B7807-CC69-4140-A60F-A9F2C321F3CA}"/>
              </a:ext>
            </a:extLst>
          </p:cNvPr>
          <p:cNvSpPr>
            <a:spLocks xmlns:a="http://schemas.openxmlformats.org/drawingml/2006/main" noGrp="1"/>
          </p:cNvSpPr>
          <p:nvPr/>
        </p:nvSpPr>
        <p:spPr>
          <a:xfrm xmlns:a="http://schemas.openxmlformats.org/drawingml/2006/main">
            <a:off x="400050" y="5829300"/>
            <a:ext cx="11220450" cy="447675"/>
          </a:xfrm>
          <a:prstGeom xmlns:a="http://schemas.openxmlformats.org/drawingml/2006/main" prst="rect">
            <a:avLst/>
          </a:prstGeom>
          <a:solidFill xmlns:a="http://schemas.openxmlformats.org/drawingml/2006/main">
            <a:srgbClr val="D9F0F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50D5876-ACE4-4DF8-83F2-14B355A0FF0A}"/>
              </a:ext>
            </a:extLst>
          </p:cNvPr>
          <p:cNvSpPr>
            <a:spLocks xmlns:a="http://schemas.openxmlformats.org/drawingml/2006/main" noGrp="1"/>
          </p:cNvSpPr>
          <p:nvPr/>
        </p:nvSpPr>
        <p:spPr>
          <a:xfrm xmlns:a="http://schemas.openxmlformats.org/drawingml/2006/main">
            <a:off x="590550" y="5934075"/>
            <a:ext cx="10839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Descriptive held-out marker: N = 64 for scaled direct X; no five-point marker by N = 210 for current XᵀX.</a:t>
            </a:r>
          </a:p>
        </p:txBody>
      </p:sp>
    </p:spTree>
    <p:extLst>
      <p:ext uri="{BB962C8B-B14F-4D97-AF65-F5344CB8AC3E}">
        <p14:creationId xmlns:p14="http://schemas.microsoft.com/office/powerpoint/2010/main" val="150001610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A184E87-3C22-415D-AB92-FF8E30B7DE54}"/>
              </a:ext>
            </a:extLst>
          </p:cNvPr>
          <p:cNvSpPr>
            <a:spLocks xmlns:a="http://schemas.openxmlformats.org/drawingml/2006/main" noGrp="1"/>
          </p:cNvSpPr>
          <p:nvPr/>
        </p:nvSpPr>
        <p:spPr>
          <a:xfrm xmlns:a="http://schemas.openxmlformats.org/drawingml/2006/main">
            <a:off x="400050" y="28575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The +8 cm y residual turns upward late in both solves</a:t>
            </a:r>
          </a:p>
        </p:txBody>
      </p:sp>
      <p:sp>
        <p:nvSpPr>
          <p:cNvPr id="2" name="">
            <a:extLst xmlns:a="http://schemas.openxmlformats.org/drawingml/2006/main">
              <a:ext uri="{FF2B5EF4-FFF2-40B4-BE49-F238E27FC236}">
                <a16:creationId xmlns:a16="http://schemas.microsoft.com/office/drawing/2014/main" id="{2C84D73D-9E58-4DD7-84B1-5AA8EEFE5CDE}"/>
              </a:ext>
            </a:extLst>
          </p:cNvPr>
          <p:cNvSpPr>
            <a:spLocks xmlns:a="http://schemas.openxmlformats.org/drawingml/2006/main" noGrp="1"/>
          </p:cNvSpPr>
          <p:nvPr/>
        </p:nvSpPr>
        <p:spPr>
          <a:xfrm xmlns:a="http://schemas.openxmlformats.org/drawingml/2006/main">
            <a:off x="400050" y="1009650"/>
            <a:ext cx="113919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0AB8059-6405-4291-BD09-B61F2B0743BE}"/>
              </a:ext>
            </a:extLst>
          </p:cNvPr>
          <p:cNvSpPr>
            <a:spLocks xmlns:a="http://schemas.openxmlformats.org/drawingml/2006/main" noGrp="1"/>
          </p:cNvSpPr>
          <p:nvPr/>
        </p:nvSpPr>
        <p:spPr>
          <a:xfrm xmlns:a="http://schemas.openxmlformats.org/drawingml/2006/main">
            <a:off x="400050" y="64865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PRELIMINARY  •  HMS 6.667 GeV</a:t>
            </a:r>
          </a:p>
        </p:txBody>
      </p:sp>
      <p:sp>
        <p:nvSpPr>
          <p:cNvPr id="4" name="">
            <a:extLst xmlns:a="http://schemas.openxmlformats.org/drawingml/2006/main">
              <a:ext uri="{FF2B5EF4-FFF2-40B4-BE49-F238E27FC236}">
                <a16:creationId xmlns:a16="http://schemas.microsoft.com/office/drawing/2014/main" id="{A9611FF2-5487-451F-AA54-25BD9E5AE2F6}"/>
              </a:ext>
            </a:extLst>
          </p:cNvPr>
          <p:cNvSpPr>
            <a:spLocks xmlns:a="http://schemas.openxmlformats.org/drawingml/2006/main" noGrp="1"/>
          </p:cNvSpPr>
          <p:nvPr/>
        </p:nvSpPr>
        <p:spPr>
          <a:xfrm xmlns:a="http://schemas.openxmlformats.org/drawingml/2006/main">
            <a:off x="11353800" y="648652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8</a:t>
            </a:r>
          </a:p>
        </p:txBody>
      </p:sp>
      <p:sp>
        <p:nvSpPr>
          <p:cNvPr id="5" name="">
            <a:extLst xmlns:a="http://schemas.openxmlformats.org/drawingml/2006/main">
              <a:ext uri="{FF2B5EF4-FFF2-40B4-BE49-F238E27FC236}">
                <a16:creationId xmlns:a16="http://schemas.microsoft.com/office/drawing/2014/main" id="{D39DEA9E-7166-4D6A-8045-50984DFC1647}"/>
              </a:ext>
            </a:extLst>
          </p:cNvPr>
          <p:cNvSpPr>
            <a:spLocks xmlns:a="http://schemas.openxmlformats.org/drawingml/2006/main" noGrp="1"/>
          </p:cNvSpPr>
          <p:nvPr/>
        </p:nvSpPr>
        <p:spPr>
          <a:xfrm xmlns:a="http://schemas.openxmlformats.org/drawingml/2006/main">
            <a:off x="419100" y="11811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Rescaled direct X</a:t>
            </a:r>
          </a:p>
        </p:txBody>
      </p:sp>
      <p:sp>
        <p:nvSpPr>
          <p:cNvPr id="6" name="">
            <a:extLst xmlns:a="http://schemas.openxmlformats.org/drawingml/2006/main">
              <a:ext uri="{FF2B5EF4-FFF2-40B4-BE49-F238E27FC236}">
                <a16:creationId xmlns:a16="http://schemas.microsoft.com/office/drawing/2014/main" id="{3FC210D1-5DFE-4C6C-8874-863350D64076}"/>
              </a:ext>
            </a:extLst>
          </p:cNvPr>
          <p:cNvSpPr>
            <a:spLocks xmlns:a="http://schemas.openxmlformats.org/drawingml/2006/main" noGrp="1"/>
          </p:cNvSpPr>
          <p:nvPr/>
        </p:nvSpPr>
        <p:spPr>
          <a:xfrm xmlns:a="http://schemas.openxmlformats.org/drawingml/2006/main">
            <a:off x="6229350" y="11811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C62828"/>
                </a:solidFill>
                <a:latin typeface="Helvetica Neue"/>
                <a:ea typeface="Helvetica Neue"/>
                <a:cs typeface="Helvetica Neue"/>
              </a:defRPr>
            </a:pPr>
            <a:r>
              <a:rPr sz="1350" b="1">
                <a:solidFill>
                  <a:srgbClr val="C62828"/>
                </a:solidFill>
                <a:latin typeface="Helvetica Neue"/>
                <a:ea typeface="Helvetica Neue"/>
                <a:cs typeface="Helvetica Neue"/>
              </a:rPr>
              <a:t>Current unscaled XᵀX</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748b178c524414e"/>
          <a:stretch xmlns:a="http://schemas.openxmlformats.org/drawingml/2006/main"/>
        </p:blipFill>
        <p:spPr>
          <a:xfrm xmlns:a="http://schemas.openxmlformats.org/drawingml/2006/main">
            <a:off x="480881" y="1504950"/>
            <a:ext cx="5267587" cy="41910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0d5781d8afe474b"/>
          <a:stretch xmlns:a="http://schemas.openxmlformats.org/drawingml/2006/main"/>
        </p:blipFill>
        <p:spPr>
          <a:xfrm xmlns:a="http://schemas.openxmlformats.org/drawingml/2006/main">
            <a:off x="6272081" y="1504950"/>
            <a:ext cx="5267587" cy="4191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01F8159-39A8-407A-AE8E-D4307C9A41D2}"/>
              </a:ext>
            </a:extLst>
          </p:cNvPr>
          <p:cNvSpPr>
            <a:spLocks xmlns:a="http://schemas.openxmlformats.org/drawingml/2006/main" noGrp="1"/>
          </p:cNvSpPr>
          <p:nvPr/>
        </p:nvSpPr>
        <p:spPr>
          <a:xfrm xmlns:a="http://schemas.openxmlformats.org/drawingml/2006/main">
            <a:off x="400050" y="5829300"/>
            <a:ext cx="11220450" cy="447675"/>
          </a:xfrm>
          <a:prstGeom xmlns:a="http://schemas.openxmlformats.org/drawingml/2006/main" prst="rect">
            <a:avLst/>
          </a:prstGeom>
          <a:solidFill xmlns:a="http://schemas.openxmlformats.org/drawingml/2006/main">
            <a:srgbClr val="D9F0F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C709388-FD1F-45C6-9D72-133911C09BD6}"/>
              </a:ext>
            </a:extLst>
          </p:cNvPr>
          <p:cNvSpPr>
            <a:spLocks xmlns:a="http://schemas.openxmlformats.org/drawingml/2006/main" noGrp="1"/>
          </p:cNvSpPr>
          <p:nvPr/>
        </p:nvSpPr>
        <p:spPr>
          <a:xfrm xmlns:a="http://schemas.openxmlformats.org/drawingml/2006/main">
            <a:off x="590550" y="5934075"/>
            <a:ext cx="10839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Descriptive held-out marker: N = 170 for scaled direct X and N = 173 for current XᵀX.</a:t>
            </a:r>
          </a:p>
        </p:txBody>
      </p:sp>
    </p:spTree>
    <p:extLst>
      <p:ext uri="{BB962C8B-B14F-4D97-AF65-F5344CB8AC3E}">
        <p14:creationId xmlns:p14="http://schemas.microsoft.com/office/powerpoint/2010/main" val="14742330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88915F2-7444-4ACE-A655-C906AC9A8B45}"/>
              </a:ext>
            </a:extLst>
          </p:cNvPr>
          <p:cNvSpPr>
            <a:spLocks xmlns:a="http://schemas.openxmlformats.org/drawingml/2006/main" noGrp="1"/>
          </p:cNvSpPr>
          <p:nvPr/>
        </p:nvSpPr>
        <p:spPr>
          <a:xfrm xmlns:a="http://schemas.openxmlformats.org/drawingml/2006/main">
            <a:off x="400050" y="28575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The +8 cm y′ onset is also solver-dependent</a:t>
            </a:r>
          </a:p>
        </p:txBody>
      </p:sp>
      <p:sp>
        <p:nvSpPr>
          <p:cNvPr id="2" name="">
            <a:extLst xmlns:a="http://schemas.openxmlformats.org/drawingml/2006/main">
              <a:ext uri="{FF2B5EF4-FFF2-40B4-BE49-F238E27FC236}">
                <a16:creationId xmlns:a16="http://schemas.microsoft.com/office/drawing/2014/main" id="{1A6ACF1C-64FA-4115-A4D8-163584DDA671}"/>
              </a:ext>
            </a:extLst>
          </p:cNvPr>
          <p:cNvSpPr>
            <a:spLocks xmlns:a="http://schemas.openxmlformats.org/drawingml/2006/main" noGrp="1"/>
          </p:cNvSpPr>
          <p:nvPr/>
        </p:nvSpPr>
        <p:spPr>
          <a:xfrm xmlns:a="http://schemas.openxmlformats.org/drawingml/2006/main">
            <a:off x="400050" y="1009650"/>
            <a:ext cx="113919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E455960-1ABE-43F3-923E-DC65E94B7DBE}"/>
              </a:ext>
            </a:extLst>
          </p:cNvPr>
          <p:cNvSpPr>
            <a:spLocks xmlns:a="http://schemas.openxmlformats.org/drawingml/2006/main" noGrp="1"/>
          </p:cNvSpPr>
          <p:nvPr/>
        </p:nvSpPr>
        <p:spPr>
          <a:xfrm xmlns:a="http://schemas.openxmlformats.org/drawingml/2006/main">
            <a:off x="400050" y="64865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PRELIMINARY  •  HMS 6.667 GeV</a:t>
            </a:r>
          </a:p>
        </p:txBody>
      </p:sp>
      <p:sp>
        <p:nvSpPr>
          <p:cNvPr id="4" name="">
            <a:extLst xmlns:a="http://schemas.openxmlformats.org/drawingml/2006/main">
              <a:ext uri="{FF2B5EF4-FFF2-40B4-BE49-F238E27FC236}">
                <a16:creationId xmlns:a16="http://schemas.microsoft.com/office/drawing/2014/main" id="{AD41E04F-DBD9-4663-B16D-A93551BE3A68}"/>
              </a:ext>
            </a:extLst>
          </p:cNvPr>
          <p:cNvSpPr>
            <a:spLocks xmlns:a="http://schemas.openxmlformats.org/drawingml/2006/main" noGrp="1"/>
          </p:cNvSpPr>
          <p:nvPr/>
        </p:nvSpPr>
        <p:spPr>
          <a:xfrm xmlns:a="http://schemas.openxmlformats.org/drawingml/2006/main">
            <a:off x="11353800" y="648652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9</a:t>
            </a:r>
          </a:p>
        </p:txBody>
      </p:sp>
      <p:sp>
        <p:nvSpPr>
          <p:cNvPr id="5" name="">
            <a:extLst xmlns:a="http://schemas.openxmlformats.org/drawingml/2006/main">
              <a:ext uri="{FF2B5EF4-FFF2-40B4-BE49-F238E27FC236}">
                <a16:creationId xmlns:a16="http://schemas.microsoft.com/office/drawing/2014/main" id="{7108290A-A15F-4AD5-838D-FA4148B9A5A8}"/>
              </a:ext>
            </a:extLst>
          </p:cNvPr>
          <p:cNvSpPr>
            <a:spLocks xmlns:a="http://schemas.openxmlformats.org/drawingml/2006/main" noGrp="1"/>
          </p:cNvSpPr>
          <p:nvPr/>
        </p:nvSpPr>
        <p:spPr>
          <a:xfrm xmlns:a="http://schemas.openxmlformats.org/drawingml/2006/main">
            <a:off x="419100" y="11811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Rescaled direct X</a:t>
            </a:r>
          </a:p>
        </p:txBody>
      </p:sp>
      <p:sp>
        <p:nvSpPr>
          <p:cNvPr id="6" name="">
            <a:extLst xmlns:a="http://schemas.openxmlformats.org/drawingml/2006/main">
              <a:ext uri="{FF2B5EF4-FFF2-40B4-BE49-F238E27FC236}">
                <a16:creationId xmlns:a16="http://schemas.microsoft.com/office/drawing/2014/main" id="{4A25465D-3E40-4B08-BAD2-12CE8A37E3B0}"/>
              </a:ext>
            </a:extLst>
          </p:cNvPr>
          <p:cNvSpPr>
            <a:spLocks xmlns:a="http://schemas.openxmlformats.org/drawingml/2006/main" noGrp="1"/>
          </p:cNvSpPr>
          <p:nvPr/>
        </p:nvSpPr>
        <p:spPr>
          <a:xfrm xmlns:a="http://schemas.openxmlformats.org/drawingml/2006/main">
            <a:off x="6229350" y="11811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C62828"/>
                </a:solidFill>
                <a:latin typeface="Helvetica Neue"/>
                <a:ea typeface="Helvetica Neue"/>
                <a:cs typeface="Helvetica Neue"/>
              </a:defRPr>
            </a:pPr>
            <a:r>
              <a:rPr sz="1350" b="1">
                <a:solidFill>
                  <a:srgbClr val="C62828"/>
                </a:solidFill>
                <a:latin typeface="Helvetica Neue"/>
                <a:ea typeface="Helvetica Neue"/>
                <a:cs typeface="Helvetica Neue"/>
              </a:rPr>
              <a:t>Current unscaled XᵀX</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27e95bb24a6432e"/>
          <a:stretch xmlns:a="http://schemas.openxmlformats.org/drawingml/2006/main"/>
        </p:blipFill>
        <p:spPr>
          <a:xfrm xmlns:a="http://schemas.openxmlformats.org/drawingml/2006/main">
            <a:off x="480881" y="1504950"/>
            <a:ext cx="5267587" cy="41910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b0ca7ed8227490e"/>
          <a:stretch xmlns:a="http://schemas.openxmlformats.org/drawingml/2006/main"/>
        </p:blipFill>
        <p:spPr>
          <a:xfrm xmlns:a="http://schemas.openxmlformats.org/drawingml/2006/main">
            <a:off x="6272081" y="1504950"/>
            <a:ext cx="5267587" cy="4191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379293F-B569-410D-9FB2-C4FE959B234B}"/>
              </a:ext>
            </a:extLst>
          </p:cNvPr>
          <p:cNvSpPr>
            <a:spLocks xmlns:a="http://schemas.openxmlformats.org/drawingml/2006/main" noGrp="1"/>
          </p:cNvSpPr>
          <p:nvPr/>
        </p:nvSpPr>
        <p:spPr>
          <a:xfrm xmlns:a="http://schemas.openxmlformats.org/drawingml/2006/main">
            <a:off x="400050" y="5829300"/>
            <a:ext cx="11220450" cy="447675"/>
          </a:xfrm>
          <a:prstGeom xmlns:a="http://schemas.openxmlformats.org/drawingml/2006/main" prst="rect">
            <a:avLst/>
          </a:prstGeom>
          <a:solidFill xmlns:a="http://schemas.openxmlformats.org/drawingml/2006/main">
            <a:srgbClr val="D9F0F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A650464-378F-488D-BD7D-EAA3D3A61AEE}"/>
              </a:ext>
            </a:extLst>
          </p:cNvPr>
          <p:cNvSpPr>
            <a:spLocks xmlns:a="http://schemas.openxmlformats.org/drawingml/2006/main" noGrp="1"/>
          </p:cNvSpPr>
          <p:nvPr/>
        </p:nvSpPr>
        <p:spPr>
          <a:xfrm xmlns:a="http://schemas.openxmlformats.org/drawingml/2006/main">
            <a:off x="590550" y="5934075"/>
            <a:ext cx="10839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Descriptive held-out marker: N = 120 for scaled direct X and N = 164 for current XᵀX.</a:t>
            </a:r>
          </a:p>
        </p:txBody>
      </p:sp>
    </p:spTree>
    <p:extLst>
      <p:ext uri="{BB962C8B-B14F-4D97-AF65-F5344CB8AC3E}">
        <p14:creationId xmlns:p14="http://schemas.microsoft.com/office/powerpoint/2010/main" val="1898772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96BA7C8-E546-4CEB-B378-A8903E68A2D9}"/>
              </a:ext>
            </a:extLst>
          </p:cNvPr>
          <p:cNvSpPr>
            <a:spLocks xmlns:a="http://schemas.openxmlformats.org/drawingml/2006/main" noGrp="1"/>
          </p:cNvSpPr>
          <p:nvPr/>
        </p:nvSpPr>
        <p:spPr>
          <a:xfrm xmlns:a="http://schemas.openxmlformats.org/drawingml/2006/main">
            <a:off x="400050" y="28575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Held-out residuals depend on both solver and fitted order</a:t>
            </a:r>
          </a:p>
        </p:txBody>
      </p:sp>
      <p:sp>
        <p:nvSpPr>
          <p:cNvPr id="2" name="">
            <a:extLst xmlns:a="http://schemas.openxmlformats.org/drawingml/2006/main">
              <a:ext uri="{FF2B5EF4-FFF2-40B4-BE49-F238E27FC236}">
                <a16:creationId xmlns:a16="http://schemas.microsoft.com/office/drawing/2014/main" id="{442FDB84-DE5B-4E88-B219-0C4310E7BF18}"/>
              </a:ext>
            </a:extLst>
          </p:cNvPr>
          <p:cNvSpPr>
            <a:spLocks xmlns:a="http://schemas.openxmlformats.org/drawingml/2006/main" noGrp="1"/>
          </p:cNvSpPr>
          <p:nvPr/>
        </p:nvSpPr>
        <p:spPr>
          <a:xfrm xmlns:a="http://schemas.openxmlformats.org/drawingml/2006/main">
            <a:off x="400050" y="1009650"/>
            <a:ext cx="113919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3674877-2138-4694-8359-666C6D2EA114}"/>
              </a:ext>
            </a:extLst>
          </p:cNvPr>
          <p:cNvSpPr>
            <a:spLocks xmlns:a="http://schemas.openxmlformats.org/drawingml/2006/main" noGrp="1"/>
          </p:cNvSpPr>
          <p:nvPr/>
        </p:nvSpPr>
        <p:spPr>
          <a:xfrm xmlns:a="http://schemas.openxmlformats.org/drawingml/2006/main">
            <a:off x="400050" y="64865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PRELIMINARY  •  HMS 6.667 GeV</a:t>
            </a:r>
          </a:p>
        </p:txBody>
      </p:sp>
      <p:sp>
        <p:nvSpPr>
          <p:cNvPr id="4" name="">
            <a:extLst xmlns:a="http://schemas.openxmlformats.org/drawingml/2006/main">
              <a:ext uri="{FF2B5EF4-FFF2-40B4-BE49-F238E27FC236}">
                <a16:creationId xmlns:a16="http://schemas.microsoft.com/office/drawing/2014/main" id="{27E09758-A7F4-401C-AFC9-EEE5D554E310}"/>
              </a:ext>
            </a:extLst>
          </p:cNvPr>
          <p:cNvSpPr>
            <a:spLocks xmlns:a="http://schemas.openxmlformats.org/drawingml/2006/main" noGrp="1"/>
          </p:cNvSpPr>
          <p:nvPr/>
        </p:nvSpPr>
        <p:spPr>
          <a:xfrm xmlns:a="http://schemas.openxmlformats.org/drawingml/2006/main">
            <a:off x="11353800" y="648652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10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51dcefd39a848e4"/>
          <a:stretch xmlns:a="http://schemas.openxmlformats.org/drawingml/2006/main"/>
        </p:blipFill>
        <p:spPr>
          <a:xfrm xmlns:a="http://schemas.openxmlformats.org/drawingml/2006/main">
            <a:off x="1313751" y="1257300"/>
            <a:ext cx="6192648" cy="4838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2F2C025-2F77-40EA-B649-4552EA2DF7DB}"/>
              </a:ext>
            </a:extLst>
          </p:cNvPr>
          <p:cNvSpPr>
            <a:spLocks xmlns:a="http://schemas.openxmlformats.org/drawingml/2006/main" noGrp="1"/>
          </p:cNvSpPr>
          <p:nvPr/>
        </p:nvSpPr>
        <p:spPr>
          <a:xfrm xmlns:a="http://schemas.openxmlformats.org/drawingml/2006/main">
            <a:off x="8782050" y="1257300"/>
            <a:ext cx="3009900" cy="4838700"/>
          </a:xfrm>
          <a:prstGeom xmlns:a="http://schemas.openxmlformats.org/drawingml/2006/main" prst="rect">
            <a:avLst/>
          </a:prstGeom>
          <a:solidFill xmlns:a="http://schemas.openxmlformats.org/drawingml/2006/main">
            <a:srgbClr val="F1F1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7DDA264-5C51-461E-9A0A-12E107AE8388}"/>
              </a:ext>
            </a:extLst>
          </p:cNvPr>
          <p:cNvSpPr>
            <a:spLocks xmlns:a="http://schemas.openxmlformats.org/drawingml/2006/main" noGrp="1"/>
          </p:cNvSpPr>
          <p:nvPr/>
        </p:nvSpPr>
        <p:spPr>
          <a:xfrm xmlns:a="http://schemas.openxmlformats.org/drawingml/2006/main">
            <a:off x="9048750" y="15621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5F6368"/>
                </a:solidFill>
                <a:latin typeface="Helvetica Neue"/>
                <a:ea typeface="Helvetica Neue"/>
                <a:cs typeface="Helvetica Neue"/>
              </a:defRPr>
            </a:pPr>
            <a:r>
              <a:rPr sz="1125" b="1">
                <a:solidFill>
                  <a:srgbClr val="5F6368"/>
                </a:solidFill>
                <a:latin typeface="Helvetica Neue"/>
                <a:ea typeface="Helvetica Neue"/>
                <a:cs typeface="Helvetica Neue"/>
              </a:rPr>
              <a:t>OBSERVED PATTERN</a:t>
            </a:r>
          </a:p>
        </p:txBody>
      </p:sp>
      <p:sp>
        <p:nvSpPr>
          <p:cNvPr id="8" name="">
            <a:extLst xmlns:a="http://schemas.openxmlformats.org/drawingml/2006/main">
              <a:ext uri="{FF2B5EF4-FFF2-40B4-BE49-F238E27FC236}">
                <a16:creationId xmlns:a16="http://schemas.microsoft.com/office/drawing/2014/main" id="{8AEB2DEC-BC10-4BA1-A312-BCBC8A88BD73}"/>
              </a:ext>
            </a:extLst>
          </p:cNvPr>
          <p:cNvSpPr>
            <a:spLocks xmlns:a="http://schemas.openxmlformats.org/drawingml/2006/main" noGrp="1"/>
          </p:cNvSpPr>
          <p:nvPr/>
        </p:nvSpPr>
        <p:spPr>
          <a:xfrm xmlns:a="http://schemas.openxmlformats.org/drawingml/2006/main">
            <a:off x="9048750" y="1971675"/>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3D8DFF"/>
                </a:solidFill>
                <a:latin typeface="Helvetica Neue"/>
                <a:ea typeface="Helvetica Neue"/>
                <a:cs typeface="Helvetica Neue"/>
              </a:defRPr>
            </a:pPr>
            <a:r>
              <a:rPr sz="3300" b="1">
                <a:solidFill>
                  <a:srgbClr val="3D8DFF"/>
                </a:solidFill>
                <a:latin typeface="Helvetica Neue"/>
                <a:ea typeface="Helvetica Neue"/>
                <a:cs typeface="Helvetica Neue"/>
              </a:rPr>
              <a:t>N matters</a:t>
            </a:r>
          </a:p>
        </p:txBody>
      </p:sp>
      <p:sp>
        <p:nvSpPr>
          <p:cNvPr id="9" name="">
            <a:extLst xmlns:a="http://schemas.openxmlformats.org/drawingml/2006/main">
              <a:ext uri="{FF2B5EF4-FFF2-40B4-BE49-F238E27FC236}">
                <a16:creationId xmlns:a16="http://schemas.microsoft.com/office/drawing/2014/main" id="{568F5BF4-F522-4586-AB49-B15C91B7E8A5}"/>
              </a:ext>
            </a:extLst>
          </p:cNvPr>
          <p:cNvSpPr>
            <a:spLocks xmlns:a="http://schemas.openxmlformats.org/drawingml/2006/main" noGrp="1"/>
          </p:cNvSpPr>
          <p:nvPr/>
        </p:nvSpPr>
        <p:spPr>
          <a:xfrm xmlns:a="http://schemas.openxmlformats.org/drawingml/2006/main">
            <a:off x="9048750" y="2952750"/>
            <a:ext cx="247650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The scaled full-order solve is numerically cleaner, but its held-out residuals are not uniformly better.</a:t>
            </a:r>
          </a:p>
          <a:p xmlns:a="http://schemas.openxmlformats.org/drawingml/2006/main">
            <a:r>
              <a:t/>
            </a:r>
          </a:p>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The lower-order point is a descriptive comparison, not a selection.</a:t>
            </a:r>
          </a:p>
        </p:txBody>
      </p:sp>
      <p:sp>
        <p:nvSpPr>
          <p:cNvPr id="10" name="">
            <a:extLst xmlns:a="http://schemas.openxmlformats.org/drawingml/2006/main">
              <a:ext uri="{FF2B5EF4-FFF2-40B4-BE49-F238E27FC236}">
                <a16:creationId xmlns:a16="http://schemas.microsoft.com/office/drawing/2014/main" id="{70C80533-7399-4BD9-977A-36F2686ABFC8}"/>
              </a:ext>
            </a:extLst>
          </p:cNvPr>
          <p:cNvSpPr>
            <a:spLocks xmlns:a="http://schemas.openxmlformats.org/drawingml/2006/main" noGrp="1"/>
          </p:cNvSpPr>
          <p:nvPr/>
        </p:nvSpPr>
        <p:spPr>
          <a:xfrm xmlns:a="http://schemas.openxmlformats.org/drawingml/2006/main">
            <a:off x="9048750" y="54673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F6368"/>
                </a:solidFill>
                <a:latin typeface="Helvetica Neue"/>
                <a:ea typeface="Helvetica Neue"/>
                <a:cs typeface="Helvetica Neue"/>
              </a:defRPr>
            </a:pPr>
            <a:r>
              <a:rPr sz="975" b="0">
                <a:solidFill>
                  <a:srgbClr val="5F6368"/>
                </a:solidFill>
                <a:latin typeface="Helvetica Neue"/>
                <a:ea typeface="Helvetica Neue"/>
                <a:cs typeface="Helvetica Neue"/>
              </a:rPr>
              <a:t>Full-sample averages are strongly influenced by the +8 cm subset and its setting mix.</a:t>
            </a:r>
          </a:p>
        </p:txBody>
      </p:sp>
    </p:spTree>
    <p:extLst>
      <p:ext uri="{BB962C8B-B14F-4D97-AF65-F5344CB8AC3E}">
        <p14:creationId xmlns:p14="http://schemas.microsoft.com/office/powerpoint/2010/main" val="5523955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5CEDEC6-0581-4509-AAC0-EEBC8A29815F}"/>
              </a:ext>
            </a:extLst>
          </p:cNvPr>
          <p:cNvSpPr>
            <a:spLocks xmlns:a="http://schemas.openxmlformats.org/drawingml/2006/main" noGrp="1"/>
          </p:cNvSpPr>
          <p:nvPr/>
        </p:nvSpPr>
        <p:spPr>
          <a:xfrm xmlns:a="http://schemas.openxmlformats.org/drawingml/2006/main">
            <a:off x="400050" y="28575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Most current-versus-scaled differences are small</a:t>
            </a:r>
          </a:p>
        </p:txBody>
      </p:sp>
      <p:sp>
        <p:nvSpPr>
          <p:cNvPr id="2" name="">
            <a:extLst xmlns:a="http://schemas.openxmlformats.org/drawingml/2006/main">
              <a:ext uri="{FF2B5EF4-FFF2-40B4-BE49-F238E27FC236}">
                <a16:creationId xmlns:a16="http://schemas.microsoft.com/office/drawing/2014/main" id="{F8EEFE85-077B-4987-A6E2-F6FA2D6BDE88}"/>
              </a:ext>
            </a:extLst>
          </p:cNvPr>
          <p:cNvSpPr>
            <a:spLocks xmlns:a="http://schemas.openxmlformats.org/drawingml/2006/main" noGrp="1"/>
          </p:cNvSpPr>
          <p:nvPr/>
        </p:nvSpPr>
        <p:spPr>
          <a:xfrm xmlns:a="http://schemas.openxmlformats.org/drawingml/2006/main">
            <a:off x="400050" y="1009650"/>
            <a:ext cx="113919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0D68A10-EA06-4CDC-B419-73356A05A31A}"/>
              </a:ext>
            </a:extLst>
          </p:cNvPr>
          <p:cNvSpPr>
            <a:spLocks xmlns:a="http://schemas.openxmlformats.org/drawingml/2006/main" noGrp="1"/>
          </p:cNvSpPr>
          <p:nvPr/>
        </p:nvSpPr>
        <p:spPr>
          <a:xfrm xmlns:a="http://schemas.openxmlformats.org/drawingml/2006/main">
            <a:off x="400050" y="64865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PRELIMINARY  •  HMS 6.667 GeV</a:t>
            </a:r>
          </a:p>
        </p:txBody>
      </p:sp>
      <p:sp>
        <p:nvSpPr>
          <p:cNvPr id="4" name="">
            <a:extLst xmlns:a="http://schemas.openxmlformats.org/drawingml/2006/main">
              <a:ext uri="{FF2B5EF4-FFF2-40B4-BE49-F238E27FC236}">
                <a16:creationId xmlns:a16="http://schemas.microsoft.com/office/drawing/2014/main" id="{4DEED365-095B-4683-B6BF-F8902EC901AC}"/>
              </a:ext>
            </a:extLst>
          </p:cNvPr>
          <p:cNvSpPr>
            <a:spLocks xmlns:a="http://schemas.openxmlformats.org/drawingml/2006/main" noGrp="1"/>
          </p:cNvSpPr>
          <p:nvPr/>
        </p:nvSpPr>
        <p:spPr>
          <a:xfrm xmlns:a="http://schemas.openxmlformats.org/drawingml/2006/main">
            <a:off x="11353800" y="648652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11</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0a3a7dac09341da"/>
          <a:stretch xmlns:a="http://schemas.openxmlformats.org/drawingml/2006/main"/>
        </p:blipFill>
        <p:spPr>
          <a:xfrm xmlns:a="http://schemas.openxmlformats.org/drawingml/2006/main">
            <a:off x="1313751" y="1257300"/>
            <a:ext cx="6192648" cy="4838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9899C32-67BD-49D8-B88E-B11BF7F9D1F0}"/>
              </a:ext>
            </a:extLst>
          </p:cNvPr>
          <p:cNvSpPr>
            <a:spLocks xmlns:a="http://schemas.openxmlformats.org/drawingml/2006/main" noGrp="1"/>
          </p:cNvSpPr>
          <p:nvPr/>
        </p:nvSpPr>
        <p:spPr>
          <a:xfrm xmlns:a="http://schemas.openxmlformats.org/drawingml/2006/main">
            <a:off x="8782050" y="1257300"/>
            <a:ext cx="3009900" cy="4838700"/>
          </a:xfrm>
          <a:prstGeom xmlns:a="http://schemas.openxmlformats.org/drawingml/2006/main" prst="rect">
            <a:avLst/>
          </a:prstGeom>
          <a:solidFill xmlns:a="http://schemas.openxmlformats.org/drawingml/2006/main">
            <a:srgbClr val="F1F1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8185613-7732-4D23-8309-245C82B7E443}"/>
              </a:ext>
            </a:extLst>
          </p:cNvPr>
          <p:cNvSpPr>
            <a:spLocks xmlns:a="http://schemas.openxmlformats.org/drawingml/2006/main" noGrp="1"/>
          </p:cNvSpPr>
          <p:nvPr/>
        </p:nvSpPr>
        <p:spPr>
          <a:xfrm xmlns:a="http://schemas.openxmlformats.org/drawingml/2006/main">
            <a:off x="9048750" y="15621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5F6368"/>
                </a:solidFill>
                <a:latin typeface="Helvetica Neue"/>
                <a:ea typeface="Helvetica Neue"/>
                <a:cs typeface="Helvetica Neue"/>
              </a:defRPr>
            </a:pPr>
            <a:r>
              <a:rPr sz="1125" b="1">
                <a:solidFill>
                  <a:srgbClr val="5F6368"/>
                </a:solidFill>
                <a:latin typeface="Helvetica Neue"/>
                <a:ea typeface="Helvetica Neue"/>
                <a:cs typeface="Helvetica Neue"/>
              </a:rPr>
              <a:t>CONSERVATIVE SUMMARY</a:t>
            </a:r>
          </a:p>
        </p:txBody>
      </p:sp>
      <p:sp>
        <p:nvSpPr>
          <p:cNvPr id="8" name="">
            <a:extLst xmlns:a="http://schemas.openxmlformats.org/drawingml/2006/main">
              <a:ext uri="{FF2B5EF4-FFF2-40B4-BE49-F238E27FC236}">
                <a16:creationId xmlns:a16="http://schemas.microsoft.com/office/drawing/2014/main" id="{7BD71838-CC19-472E-920E-368B41691B96}"/>
              </a:ext>
            </a:extLst>
          </p:cNvPr>
          <p:cNvSpPr>
            <a:spLocks xmlns:a="http://schemas.openxmlformats.org/drawingml/2006/main" noGrp="1"/>
          </p:cNvSpPr>
          <p:nvPr/>
        </p:nvSpPr>
        <p:spPr>
          <a:xfrm xmlns:a="http://schemas.openxmlformats.org/drawingml/2006/main">
            <a:off x="9048750" y="1971675"/>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3D8DFF"/>
                </a:solidFill>
                <a:latin typeface="Helvetica Neue"/>
                <a:ea typeface="Helvetica Neue"/>
                <a:cs typeface="Helvetica Neue"/>
              </a:defRPr>
            </a:pPr>
            <a:r>
              <a:rPr sz="3300" b="1">
                <a:solidFill>
                  <a:srgbClr val="3D8DFF"/>
                </a:solidFill>
                <a:latin typeface="Helvetica Neue"/>
                <a:ea typeface="Helvetica Neue"/>
                <a:cs typeface="Helvetica Neue"/>
              </a:rPr>
              <a:t>Mostly close</a:t>
            </a:r>
          </a:p>
        </p:txBody>
      </p:sp>
      <p:sp>
        <p:nvSpPr>
          <p:cNvPr id="9" name="">
            <a:extLst xmlns:a="http://schemas.openxmlformats.org/drawingml/2006/main">
              <a:ext uri="{FF2B5EF4-FFF2-40B4-BE49-F238E27FC236}">
                <a16:creationId xmlns:a16="http://schemas.microsoft.com/office/drawing/2014/main" id="{A0555724-66D4-42F6-A42B-0F8C6E648DA0}"/>
              </a:ext>
            </a:extLst>
          </p:cNvPr>
          <p:cNvSpPr>
            <a:spLocks xmlns:a="http://schemas.openxmlformats.org/drawingml/2006/main" noGrp="1"/>
          </p:cNvSpPr>
          <p:nvPr/>
        </p:nvSpPr>
        <p:spPr>
          <a:xfrm xmlns:a="http://schemas.openxmlformats.org/drawingml/2006/main">
            <a:off x="9048750" y="2952750"/>
            <a:ext cx="247650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For most held-out events, the matrix predictions are close. Rare events differ much more.</a:t>
            </a:r>
          </a:p>
          <a:p xmlns:a="http://schemas.openxmlformats.org/drawingml/2006/main">
            <a:r>
              <a:t/>
            </a:r>
          </a:p>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The late-N rise is concentrated in +8 cm data and may be setting-specific.</a:t>
            </a:r>
          </a:p>
        </p:txBody>
      </p:sp>
      <p:sp>
        <p:nvSpPr>
          <p:cNvPr id="10" name="">
            <a:extLst xmlns:a="http://schemas.openxmlformats.org/drawingml/2006/main">
              <a:ext uri="{FF2B5EF4-FFF2-40B4-BE49-F238E27FC236}">
                <a16:creationId xmlns:a16="http://schemas.microsoft.com/office/drawing/2014/main" id="{CA71B208-E9F0-40F7-B8F6-FEEBCC3D0234}"/>
              </a:ext>
            </a:extLst>
          </p:cNvPr>
          <p:cNvSpPr>
            <a:spLocks xmlns:a="http://schemas.openxmlformats.org/drawingml/2006/main" noGrp="1"/>
          </p:cNvSpPr>
          <p:nvPr/>
        </p:nvSpPr>
        <p:spPr>
          <a:xfrm xmlns:a="http://schemas.openxmlformats.org/drawingml/2006/main">
            <a:off x="9048750" y="54673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F6368"/>
                </a:solidFill>
                <a:latin typeface="Helvetica Neue"/>
                <a:ea typeface="Helvetica Neue"/>
                <a:cs typeface="Helvetica Neue"/>
              </a:defRPr>
            </a:pPr>
            <a:r>
              <a:rPr sz="975" b="0">
                <a:solidFill>
                  <a:srgbClr val="5F6368"/>
                </a:solidFill>
                <a:latin typeface="Helvetica Neue"/>
                <a:ea typeface="Helvetica Neue"/>
                <a:cs typeface="Helvetica Neue"/>
              </a:rPr>
              <a:t>Next: inspect affected settings and replay-level vertex behavior. No commit decision is made here.</a:t>
            </a:r>
          </a:p>
        </p:txBody>
      </p:sp>
    </p:spTree>
    <p:extLst>
      <p:ext uri="{BB962C8B-B14F-4D97-AF65-F5344CB8AC3E}">
        <p14:creationId xmlns:p14="http://schemas.microsoft.com/office/powerpoint/2010/main" val="5580083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2026-08-26T15:00:49.7520000Z</dcterms:created>
  <dcterms:modified xsi:type="dcterms:W3CDTF">2026-08-26T15:00:49.7520000Z</dcterms:modified>
</coreProperties>
</file>